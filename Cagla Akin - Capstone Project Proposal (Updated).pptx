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5" r:id="rId9"/>
    <p:sldId id="266" r:id="rId10"/>
  </p:sldIdLst>
  <p:sldSz cx="9144000" cy="5143500" type="screen16x9"/>
  <p:notesSz cx="6858000" cy="9144000"/>
  <p:embeddedFontLst>
    <p:embeddedFont>
      <p:font typeface="Proxima Nova" panose="02000506030000020004" pitchFamily="2" charset="0"/>
      <p:regular r:id="rId12"/>
      <p:bold r:id="rId13"/>
      <p:italic r:id="rId14"/>
      <p:boldItalic r:id="rId15"/>
    </p:embeddedFont>
    <p:embeddedFont>
      <p:font typeface="Roboto Mono" pitchFamily="49"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E9EB0F-3DC6-490B-A457-C71927940423}">
  <a:tblStyle styleId="{B7E9EB0F-3DC6-490B-A457-C7192794042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39"/>
    <p:restoredTop sz="94643"/>
  </p:normalViewPr>
  <p:slideViewPr>
    <p:cSldViewPr snapToGrid="0">
      <p:cViewPr varScale="1">
        <p:scale>
          <a:sx n="141" d="100"/>
          <a:sy n="141" d="100"/>
        </p:scale>
        <p:origin x="256" y="48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db69b76e0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db69b76e0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188a237ad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188a237ad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d4266c79f5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d4266c79f5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d0b4a33e4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d0b4a33e4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d4266c79f5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3d4266c79f5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d4266c79f5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d4266c79f5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2db69b76e06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2db69b76e0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d2422cfed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d2422cfed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ocs.google.com/document/d/18aFTxwFBjFCm1Gi6eLk6s7xl2b-MQICkg0iOAqgOHdk/edit?tab=t.0#heading=h.63sj7jxdiqx7"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docs.google.com/spreadsheets/d/1CyyMWW7TuaCwUk7b9c9T6_Hs9CtNZvpLZY6bfUcfXvM/edit"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s://docs.google.com/spreadsheets/d/1gqBQ8ZAgT7u2J3BdDx33QyhpyPxcAUgjAlpnKKgQd-k/edit?usp=drive_link"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latin typeface="Proxima Nova"/>
                <a:ea typeface="Proxima Nova"/>
                <a:cs typeface="Proxima Nova"/>
                <a:sym typeface="Proxima Nova"/>
              </a:rPr>
              <a:t>Capstone Discussion</a:t>
            </a:r>
            <a:endParaRPr>
              <a:latin typeface="Proxima Nova"/>
              <a:ea typeface="Proxima Nova"/>
              <a:cs typeface="Proxima Nova"/>
              <a:sym typeface="Proxima Nova"/>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latin typeface="Proxima Nova"/>
                <a:ea typeface="Proxima Nova"/>
                <a:cs typeface="Proxima Nova"/>
                <a:sym typeface="Proxima Nova"/>
              </a:rPr>
              <a:t>Template for 1st meeting</a:t>
            </a:r>
            <a:endParaRPr>
              <a:latin typeface="Proxima Nova"/>
              <a:ea typeface="Proxima Nova"/>
              <a:cs typeface="Proxima Nova"/>
              <a:sym typeface="Proxima Nova"/>
            </a:endParaRPr>
          </a:p>
        </p:txBody>
      </p:sp>
      <p:sp>
        <p:nvSpPr>
          <p:cNvPr id="56" name="Google Shape;56;p13"/>
          <p:cNvSpPr txBox="1"/>
          <p:nvPr/>
        </p:nvSpPr>
        <p:spPr>
          <a:xfrm>
            <a:off x="3308200" y="3491925"/>
            <a:ext cx="3124500" cy="44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Proxima Nova"/>
                <a:ea typeface="Proxima Nova"/>
                <a:cs typeface="Proxima Nova"/>
                <a:sym typeface="Proxima Nova"/>
              </a:rPr>
              <a:t>ÇAĞLA</a:t>
            </a:r>
            <a:r>
              <a:rPr lang="en" sz="1200">
                <a:solidFill>
                  <a:srgbClr val="0A0A0A"/>
                </a:solidFill>
                <a:highlight>
                  <a:srgbClr val="FFFFFF"/>
                </a:highlight>
              </a:rPr>
              <a:t> </a:t>
            </a:r>
            <a:r>
              <a:rPr lang="en" sz="1800">
                <a:solidFill>
                  <a:schemeClr val="dk2"/>
                </a:solidFill>
                <a:latin typeface="Proxima Nova"/>
                <a:ea typeface="Proxima Nova"/>
                <a:cs typeface="Proxima Nova"/>
                <a:sym typeface="Proxima Nova"/>
              </a:rPr>
              <a:t>AKIN</a:t>
            </a:r>
            <a:endParaRPr sz="1800">
              <a:solidFill>
                <a:schemeClr val="dk2"/>
              </a:solidFill>
              <a:latin typeface="Proxima Nova"/>
              <a:ea typeface="Proxima Nova"/>
              <a:cs typeface="Proxima Nova"/>
              <a:sym typeface="Proxima Nova"/>
            </a:endParaRPr>
          </a:p>
        </p:txBody>
      </p:sp>
      <p:sp>
        <p:nvSpPr>
          <p:cNvPr id="57" name="Google Shape;57;p13"/>
          <p:cNvSpPr txBox="1"/>
          <p:nvPr/>
        </p:nvSpPr>
        <p:spPr>
          <a:xfrm>
            <a:off x="2394625" y="4469475"/>
            <a:ext cx="4659300" cy="44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2"/>
                </a:solidFill>
                <a:latin typeface="Proxima Nova"/>
                <a:ea typeface="Proxima Nova"/>
                <a:cs typeface="Proxima Nova"/>
                <a:sym typeface="Proxima Nova"/>
              </a:rPr>
              <a:t>⚠️*Note: You would need to be logged in a gmail account otherwise download the slide and upload it in google drive and share. </a:t>
            </a:r>
            <a:r>
              <a:rPr lang="en" sz="1200" u="sng">
                <a:solidFill>
                  <a:schemeClr val="dk2"/>
                </a:solidFill>
                <a:latin typeface="Proxima Nova"/>
                <a:ea typeface="Proxima Nova"/>
                <a:cs typeface="Proxima Nova"/>
                <a:sym typeface="Proxima Nova"/>
              </a:rPr>
              <a:t>Please give edit access</a:t>
            </a:r>
            <a:endParaRPr sz="1200" u="sng">
              <a:solidFill>
                <a:schemeClr val="dk2"/>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body" idx="1"/>
          </p:nvPr>
        </p:nvSpPr>
        <p:spPr>
          <a:xfrm>
            <a:off x="311700" y="184750"/>
            <a:ext cx="8520600" cy="482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600" b="1" dirty="0">
                <a:solidFill>
                  <a:srgbClr val="5B0F00"/>
                </a:solidFill>
                <a:latin typeface="Proxima Nova"/>
                <a:ea typeface="Proxima Nova"/>
                <a:cs typeface="Proxima Nova"/>
                <a:sym typeface="Proxima Nova"/>
              </a:rPr>
              <a:t>Problem Overview</a:t>
            </a:r>
            <a:endParaRPr b="1" dirty="0">
              <a:latin typeface="Proxima Nova"/>
              <a:ea typeface="Proxima Nova"/>
              <a:cs typeface="Proxima Nova"/>
              <a:sym typeface="Proxima Nova"/>
            </a:endParaRPr>
          </a:p>
          <a:p>
            <a:pPr marL="0" lvl="0" indent="0" algn="l" rtl="0">
              <a:spcBef>
                <a:spcPts val="1200"/>
              </a:spcBef>
              <a:spcAft>
                <a:spcPts val="0"/>
              </a:spcAft>
              <a:buNone/>
            </a:pPr>
            <a:r>
              <a:rPr lang="en" b="1" dirty="0">
                <a:latin typeface="Proxima Nova"/>
                <a:ea typeface="Proxima Nova"/>
                <a:cs typeface="Proxima Nova"/>
                <a:sym typeface="Proxima Nova"/>
              </a:rPr>
              <a:t>🎯 </a:t>
            </a:r>
            <a:r>
              <a:rPr lang="en" sz="1400" b="1" dirty="0">
                <a:solidFill>
                  <a:schemeClr val="dk1"/>
                </a:solidFill>
                <a:latin typeface="Proxima Nova"/>
                <a:ea typeface="Proxima Nova"/>
                <a:cs typeface="Proxima Nova"/>
                <a:sym typeface="Proxima Nova"/>
              </a:rPr>
              <a:t>The identified/potential problem statement? </a:t>
            </a:r>
          </a:p>
          <a:p>
            <a:pPr marL="0" indent="0">
              <a:spcBef>
                <a:spcPts val="1200"/>
              </a:spcBef>
              <a:buNone/>
            </a:pPr>
            <a:r>
              <a:rPr lang="en-US" sz="1300" b="1" dirty="0">
                <a:solidFill>
                  <a:srgbClr val="980000"/>
                </a:solidFill>
                <a:latin typeface="Proxima Nova"/>
              </a:rPr>
              <a:t>For this project I’m using the Spotify song popularity case study (</a:t>
            </a:r>
            <a:r>
              <a:rPr lang="en-US" sz="1300" b="1" dirty="0">
                <a:solidFill>
                  <a:srgbClr val="980000"/>
                </a:solidFill>
                <a:latin typeface="Proxima Nova"/>
                <a:hlinkClick r:id="rId3"/>
              </a:rPr>
              <a:t>link</a:t>
            </a:r>
            <a:r>
              <a:rPr lang="en-US" sz="1300" b="1" dirty="0">
                <a:solidFill>
                  <a:srgbClr val="980000"/>
                </a:solidFill>
                <a:latin typeface="Proxima Nova"/>
              </a:rPr>
              <a:t>). The relevant business question is:</a:t>
            </a:r>
          </a:p>
          <a:p>
            <a:pPr marL="0" indent="0">
              <a:spcBef>
                <a:spcPts val="1200"/>
              </a:spcBef>
              <a:buNone/>
            </a:pPr>
            <a:r>
              <a:rPr lang="en-US" sz="1300" b="1" i="1" dirty="0">
                <a:solidFill>
                  <a:srgbClr val="980000"/>
                </a:solidFill>
                <a:latin typeface="Proxima Nova"/>
              </a:rPr>
              <a:t>“What makes a song popular? Can we identify the audio features that drive track popularity, and build a regression model to predict a song’s popularity score and help music labels and streaming platforms make data-driven decisions about the music they invest in?”</a:t>
            </a:r>
            <a:endParaRPr lang="en-US" sz="1200" b="1" dirty="0">
              <a:solidFill>
                <a:srgbClr val="980000"/>
              </a:solidFill>
              <a:latin typeface="Proxima Nova"/>
            </a:endParaRPr>
          </a:p>
          <a:p>
            <a:pPr marL="0" lvl="0" indent="0" algn="l" rtl="0">
              <a:spcBef>
                <a:spcPts val="1200"/>
              </a:spcBef>
              <a:spcAft>
                <a:spcPts val="0"/>
              </a:spcAft>
              <a:buNone/>
            </a:pPr>
            <a:r>
              <a:rPr lang="en" sz="1200" b="1" dirty="0">
                <a:solidFill>
                  <a:schemeClr val="accent3"/>
                </a:solidFill>
                <a:latin typeface="Proxima Nova"/>
                <a:ea typeface="Proxima Nova"/>
                <a:cs typeface="Proxima Nova"/>
                <a:sym typeface="Proxima Nova"/>
              </a:rPr>
              <a:t>🔍</a:t>
            </a:r>
            <a:r>
              <a:rPr lang="en" sz="1400" b="1" dirty="0">
                <a:solidFill>
                  <a:schemeClr val="dk1"/>
                </a:solidFill>
                <a:latin typeface="Proxima Nova"/>
                <a:ea typeface="Proxima Nova"/>
                <a:cs typeface="Proxima Nova"/>
                <a:sym typeface="Proxima Nova"/>
              </a:rPr>
              <a:t> Why is it important to solve?</a:t>
            </a:r>
          </a:p>
          <a:p>
            <a:pPr marL="0" marR="0" lvl="0" indent="0" algn="l" rtl="0">
              <a:lnSpc>
                <a:spcPct val="115000"/>
              </a:lnSpc>
              <a:spcBef>
                <a:spcPts val="1200"/>
              </a:spcBef>
              <a:spcAft>
                <a:spcPts val="0"/>
              </a:spcAft>
              <a:buNone/>
            </a:pPr>
            <a:r>
              <a:rPr lang="en-US" sz="1300" b="1" dirty="0">
                <a:solidFill>
                  <a:srgbClr val="980000"/>
                </a:solidFill>
                <a:latin typeface="Proxima Nova"/>
              </a:rPr>
              <a:t>Spotify's largest cost driver is the royalties paid to artists, calculated based on each song's share of the total streaming pool. This means a more popular song gets a higher royalty payment. Since these agreements are negotiated with labels and artists beforehand, overpayment is a significant risk for Spotify. A predictive model can help estimate a song's popularity and support more data-driven decisions.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body" idx="1"/>
          </p:nvPr>
        </p:nvSpPr>
        <p:spPr>
          <a:xfrm>
            <a:off x="311700" y="184750"/>
            <a:ext cx="8520600" cy="482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b="1">
                <a:solidFill>
                  <a:srgbClr val="5B0F00"/>
                </a:solidFill>
                <a:latin typeface="Proxima Nova"/>
                <a:ea typeface="Proxima Nova"/>
                <a:cs typeface="Proxima Nova"/>
                <a:sym typeface="Proxima Nova"/>
              </a:rPr>
              <a:t>Data Overview</a:t>
            </a:r>
            <a:endParaRPr sz="1600" b="1">
              <a:solidFill>
                <a:srgbClr val="5B0F00"/>
              </a:solidFill>
              <a:latin typeface="Proxima Nova"/>
              <a:ea typeface="Proxima Nova"/>
              <a:cs typeface="Proxima Nova"/>
              <a:sym typeface="Proxima Nova"/>
            </a:endParaRPr>
          </a:p>
          <a:p>
            <a:pPr marL="0" lvl="0" indent="0" algn="l" rtl="0">
              <a:spcBef>
                <a:spcPts val="1200"/>
              </a:spcBef>
              <a:spcAft>
                <a:spcPts val="0"/>
              </a:spcAft>
              <a:buNone/>
            </a:pPr>
            <a:r>
              <a:rPr lang="en" sz="1200" b="1">
                <a:solidFill>
                  <a:schemeClr val="accent3"/>
                </a:solidFill>
                <a:latin typeface="Proxima Nova"/>
                <a:ea typeface="Proxima Nova"/>
                <a:cs typeface="Proxima Nova"/>
                <a:sym typeface="Proxima Nova"/>
              </a:rPr>
              <a:t>📊 </a:t>
            </a:r>
            <a:r>
              <a:rPr lang="en" sz="1400" b="1">
                <a:solidFill>
                  <a:schemeClr val="dk1"/>
                </a:solidFill>
                <a:latin typeface="Proxima Nova"/>
                <a:ea typeface="Proxima Nova"/>
                <a:cs typeface="Proxima Nova"/>
                <a:sym typeface="Proxima Nova"/>
              </a:rPr>
              <a:t>Have you identified/sourced the required dataset? </a:t>
            </a:r>
            <a:endParaRPr sz="1300" b="1">
              <a:solidFill>
                <a:srgbClr val="980000"/>
              </a:solidFill>
              <a:latin typeface="Proxima Nova"/>
              <a:ea typeface="Proxima Nova"/>
              <a:cs typeface="Proxima Nova"/>
              <a:sym typeface="Proxima Nova"/>
            </a:endParaRPr>
          </a:p>
          <a:p>
            <a:pPr marL="0" marR="0" lvl="0" indent="0" algn="l" rtl="0">
              <a:lnSpc>
                <a:spcPct val="115000"/>
              </a:lnSpc>
              <a:spcBef>
                <a:spcPts val="1200"/>
              </a:spcBef>
              <a:spcAft>
                <a:spcPts val="0"/>
              </a:spcAft>
              <a:buNone/>
            </a:pPr>
            <a:endParaRPr sz="1200" b="1">
              <a:solidFill>
                <a:srgbClr val="980000"/>
              </a:solidFill>
              <a:latin typeface="Proxima Nova"/>
              <a:ea typeface="Proxima Nova"/>
              <a:cs typeface="Proxima Nova"/>
              <a:sym typeface="Proxima Nova"/>
            </a:endParaRPr>
          </a:p>
          <a:p>
            <a:pPr marL="0" marR="0" lvl="0" indent="0" algn="l" rtl="0">
              <a:lnSpc>
                <a:spcPct val="115000"/>
              </a:lnSpc>
              <a:spcBef>
                <a:spcPts val="1200"/>
              </a:spcBef>
              <a:spcAft>
                <a:spcPts val="0"/>
              </a:spcAft>
              <a:buNone/>
            </a:pPr>
            <a:endParaRPr sz="1200" b="1">
              <a:solidFill>
                <a:srgbClr val="980000"/>
              </a:solidFill>
              <a:latin typeface="Proxima Nova"/>
              <a:ea typeface="Proxima Nova"/>
              <a:cs typeface="Proxima Nova"/>
              <a:sym typeface="Proxima Nova"/>
            </a:endParaRPr>
          </a:p>
          <a:p>
            <a:pPr marL="0" marR="0" lvl="0" indent="0" algn="l" rtl="0">
              <a:lnSpc>
                <a:spcPct val="115000"/>
              </a:lnSpc>
              <a:spcBef>
                <a:spcPts val="1200"/>
              </a:spcBef>
              <a:spcAft>
                <a:spcPts val="0"/>
              </a:spcAft>
              <a:buNone/>
            </a:pPr>
            <a:endParaRPr sz="1200" b="1">
              <a:solidFill>
                <a:srgbClr val="980000"/>
              </a:solidFill>
              <a:latin typeface="Proxima Nova"/>
              <a:ea typeface="Proxima Nova"/>
              <a:cs typeface="Proxima Nova"/>
              <a:sym typeface="Proxima Nova"/>
            </a:endParaRPr>
          </a:p>
          <a:p>
            <a:pPr marL="0" marR="0" lvl="0" indent="0" algn="l" rtl="0">
              <a:lnSpc>
                <a:spcPct val="115000"/>
              </a:lnSpc>
              <a:spcBef>
                <a:spcPts val="1200"/>
              </a:spcBef>
              <a:spcAft>
                <a:spcPts val="1200"/>
              </a:spcAft>
              <a:buNone/>
            </a:pPr>
            <a:endParaRPr sz="1200" b="1">
              <a:solidFill>
                <a:srgbClr val="980000"/>
              </a:solidFill>
              <a:latin typeface="Proxima Nova"/>
              <a:ea typeface="Proxima Nova"/>
              <a:cs typeface="Proxima Nova"/>
              <a:sym typeface="Proxima Nova"/>
            </a:endParaRPr>
          </a:p>
        </p:txBody>
      </p:sp>
      <p:sp>
        <p:nvSpPr>
          <p:cNvPr id="68" name="Google Shape;68;p15"/>
          <p:cNvSpPr txBox="1"/>
          <p:nvPr/>
        </p:nvSpPr>
        <p:spPr>
          <a:xfrm>
            <a:off x="488025" y="1099975"/>
            <a:ext cx="8187900" cy="379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US" sz="1200" b="1" dirty="0">
                <a:solidFill>
                  <a:srgbClr val="980000"/>
                </a:solidFill>
                <a:latin typeface="Proxima Nova"/>
                <a:sym typeface="Proxima Nova"/>
              </a:rPr>
              <a:t>I will use the dataset provided in the case study. </a:t>
            </a:r>
            <a:endParaRPr sz="1800" dirty="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body" idx="1"/>
          </p:nvPr>
        </p:nvSpPr>
        <p:spPr>
          <a:xfrm>
            <a:off x="311700" y="184750"/>
            <a:ext cx="8520600" cy="482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b="1" dirty="0">
                <a:solidFill>
                  <a:srgbClr val="5B0F00"/>
                </a:solidFill>
                <a:latin typeface="Proxima Nova"/>
                <a:ea typeface="Proxima Nova"/>
                <a:cs typeface="Proxima Nova"/>
                <a:sym typeface="Proxima Nova"/>
              </a:rPr>
              <a:t>Data Overview</a:t>
            </a:r>
            <a:endParaRPr sz="1600" b="1" dirty="0">
              <a:solidFill>
                <a:srgbClr val="5B0F00"/>
              </a:solidFill>
              <a:latin typeface="Proxima Nova"/>
              <a:ea typeface="Proxima Nova"/>
              <a:cs typeface="Proxima Nova"/>
              <a:sym typeface="Proxima Nova"/>
            </a:endParaRPr>
          </a:p>
          <a:p>
            <a:pPr marL="0" indent="0">
              <a:spcBef>
                <a:spcPts val="1200"/>
              </a:spcBef>
              <a:buNone/>
            </a:pPr>
            <a:r>
              <a:rPr lang="en" sz="1200" b="1" dirty="0">
                <a:solidFill>
                  <a:schemeClr val="accent3"/>
                </a:solidFill>
                <a:latin typeface="Proxima Nova"/>
                <a:ea typeface="Proxima Nova"/>
                <a:cs typeface="Proxima Nova"/>
                <a:sym typeface="Proxima Nova"/>
              </a:rPr>
              <a:t>📊 </a:t>
            </a:r>
            <a:r>
              <a:rPr lang="en" sz="1400" b="1" dirty="0">
                <a:solidFill>
                  <a:schemeClr val="dk1"/>
                </a:solidFill>
                <a:latin typeface="Proxima Nova"/>
                <a:ea typeface="Proxima Nova"/>
                <a:cs typeface="Proxima Nova"/>
                <a:sym typeface="Proxima Nova"/>
              </a:rPr>
              <a:t>Have you identified/sourced the required dataset? </a:t>
            </a:r>
            <a:r>
              <a:rPr lang="en-US" sz="1400" b="1" u="sng" dirty="0">
                <a:solidFill>
                  <a:srgbClr val="980000"/>
                </a:solidFill>
                <a:latin typeface="Proxima Nova"/>
                <a:ea typeface="Proxima Nova"/>
                <a:cs typeface="Proxima Nova"/>
                <a:sym typeface="Proxima Nova"/>
              </a:rPr>
              <a:t>Spotify Tracks Data</a:t>
            </a:r>
            <a:endParaRPr lang="en-US" sz="1400" dirty="0"/>
          </a:p>
          <a:p>
            <a:pPr marL="0" lvl="0" indent="0" algn="l" rtl="0">
              <a:spcBef>
                <a:spcPts val="1200"/>
              </a:spcBef>
              <a:spcAft>
                <a:spcPts val="0"/>
              </a:spcAft>
              <a:buNone/>
            </a:pPr>
            <a:r>
              <a:rPr lang="en" sz="1400" b="1" dirty="0">
                <a:solidFill>
                  <a:schemeClr val="dk1"/>
                </a:solidFill>
                <a:latin typeface="Proxima Nova"/>
                <a:ea typeface="Proxima Nova"/>
                <a:cs typeface="Proxima Nova"/>
                <a:sym typeface="Proxima Nova"/>
              </a:rPr>
              <a:t> </a:t>
            </a:r>
            <a:endParaRPr sz="1300" b="1" dirty="0">
              <a:solidFill>
                <a:srgbClr val="980000"/>
              </a:solidFill>
              <a:latin typeface="Proxima Nova"/>
              <a:ea typeface="Proxima Nova"/>
              <a:cs typeface="Proxima Nova"/>
              <a:sym typeface="Proxima Nova"/>
            </a:endParaRPr>
          </a:p>
          <a:p>
            <a:pPr marL="457200" lvl="0" indent="0" algn="l" rtl="0">
              <a:spcBef>
                <a:spcPts val="1200"/>
              </a:spcBef>
              <a:spcAft>
                <a:spcPts val="0"/>
              </a:spcAft>
              <a:buNone/>
            </a:pPr>
            <a:endParaRPr sz="1300" b="1" dirty="0">
              <a:solidFill>
                <a:srgbClr val="980000"/>
              </a:solidFill>
              <a:latin typeface="Proxima Nova"/>
              <a:ea typeface="Proxima Nova"/>
              <a:cs typeface="Proxima Nova"/>
              <a:sym typeface="Proxima Nova"/>
            </a:endParaRPr>
          </a:p>
          <a:p>
            <a:pPr marL="914400" lvl="0" indent="0" algn="l" rtl="0">
              <a:spcBef>
                <a:spcPts val="1200"/>
              </a:spcBef>
              <a:spcAft>
                <a:spcPts val="0"/>
              </a:spcAft>
              <a:buNone/>
            </a:pPr>
            <a:endParaRPr sz="1300" b="1" dirty="0">
              <a:solidFill>
                <a:srgbClr val="980000"/>
              </a:solidFill>
              <a:latin typeface="Proxima Nova"/>
              <a:ea typeface="Proxima Nova"/>
              <a:cs typeface="Proxima Nova"/>
              <a:sym typeface="Proxima Nova"/>
            </a:endParaRPr>
          </a:p>
          <a:p>
            <a:pPr marL="0" lvl="0" indent="0" algn="l" rtl="0">
              <a:spcBef>
                <a:spcPts val="1200"/>
              </a:spcBef>
              <a:spcAft>
                <a:spcPts val="0"/>
              </a:spcAft>
              <a:buClr>
                <a:schemeClr val="dk1"/>
              </a:buClr>
              <a:buSzPts val="1100"/>
              <a:buFont typeface="Arial"/>
              <a:buNone/>
            </a:pPr>
            <a:endParaRPr sz="1200" i="1" dirty="0">
              <a:solidFill>
                <a:schemeClr val="accent1"/>
              </a:solidFill>
              <a:latin typeface="Proxima Nova"/>
              <a:ea typeface="Proxima Nova"/>
              <a:cs typeface="Proxima Nova"/>
              <a:sym typeface="Proxima Nova"/>
            </a:endParaRPr>
          </a:p>
          <a:p>
            <a:pPr marL="0" lvl="0" indent="0" algn="l" rtl="0">
              <a:spcBef>
                <a:spcPts val="1200"/>
              </a:spcBef>
              <a:spcAft>
                <a:spcPts val="0"/>
              </a:spcAft>
              <a:buNone/>
            </a:pPr>
            <a:endParaRPr sz="1400" b="1" dirty="0">
              <a:solidFill>
                <a:schemeClr val="dk1"/>
              </a:solidFill>
              <a:latin typeface="Proxima Nova"/>
              <a:ea typeface="Proxima Nova"/>
              <a:cs typeface="Proxima Nova"/>
              <a:sym typeface="Proxima Nova"/>
            </a:endParaRPr>
          </a:p>
          <a:p>
            <a:pPr marL="0" lvl="0" indent="0" algn="l" rtl="0">
              <a:spcBef>
                <a:spcPts val="1200"/>
              </a:spcBef>
              <a:spcAft>
                <a:spcPts val="1200"/>
              </a:spcAft>
              <a:buNone/>
            </a:pPr>
            <a:endParaRPr sz="1200" dirty="0">
              <a:solidFill>
                <a:schemeClr val="accent3"/>
              </a:solidFill>
              <a:latin typeface="Proxima Nova"/>
              <a:ea typeface="Proxima Nova"/>
              <a:cs typeface="Proxima Nova"/>
              <a:sym typeface="Proxima Nova"/>
            </a:endParaRPr>
          </a:p>
        </p:txBody>
      </p:sp>
      <p:graphicFrame>
        <p:nvGraphicFramePr>
          <p:cNvPr id="74" name="Google Shape;74;p16"/>
          <p:cNvGraphicFramePr/>
          <p:nvPr>
            <p:extLst>
              <p:ext uri="{D42A27DB-BD31-4B8C-83A1-F6EECF244321}">
                <p14:modId xmlns:p14="http://schemas.microsoft.com/office/powerpoint/2010/main" val="2052650158"/>
              </p:ext>
            </p:extLst>
          </p:nvPr>
        </p:nvGraphicFramePr>
        <p:xfrm>
          <a:off x="197224" y="1014575"/>
          <a:ext cx="8435788" cy="3505211"/>
        </p:xfrm>
        <a:graphic>
          <a:graphicData uri="http://schemas.openxmlformats.org/drawingml/2006/table">
            <a:tbl>
              <a:tblPr>
                <a:noFill/>
                <a:tableStyleId>{B7E9EB0F-3DC6-490B-A457-C71927940423}</a:tableStyleId>
              </a:tblPr>
              <a:tblGrid>
                <a:gridCol w="2483223">
                  <a:extLst>
                    <a:ext uri="{9D8B030D-6E8A-4147-A177-3AD203B41FA5}">
                      <a16:colId xmlns:a16="http://schemas.microsoft.com/office/drawing/2014/main" val="20000"/>
                    </a:ext>
                  </a:extLst>
                </a:gridCol>
                <a:gridCol w="5952565">
                  <a:extLst>
                    <a:ext uri="{9D8B030D-6E8A-4147-A177-3AD203B41FA5}">
                      <a16:colId xmlns:a16="http://schemas.microsoft.com/office/drawing/2014/main" val="20001"/>
                    </a:ext>
                  </a:extLst>
                </a:gridCol>
              </a:tblGrid>
              <a:tr h="1301011">
                <a:tc>
                  <a:txBody>
                    <a:bodyPr/>
                    <a:lstStyle/>
                    <a:p>
                      <a:pPr marL="0" marR="0" lvl="0" indent="0" algn="l" rtl="0">
                        <a:lnSpc>
                          <a:spcPct val="115000"/>
                        </a:lnSpc>
                        <a:spcBef>
                          <a:spcPts val="0"/>
                        </a:spcBef>
                        <a:spcAft>
                          <a:spcPts val="1200"/>
                        </a:spcAft>
                        <a:buNone/>
                      </a:pPr>
                      <a:r>
                        <a:rPr lang="en" sz="1100" b="1" dirty="0">
                          <a:solidFill>
                            <a:schemeClr val="dk1"/>
                          </a:solidFill>
                          <a:latin typeface="Proxima Nova"/>
                          <a:ea typeface="Proxima Nova"/>
                          <a:cs typeface="Proxima Nova"/>
                          <a:sym typeface="Proxima Nova"/>
                        </a:rPr>
                        <a:t>Description</a:t>
                      </a:r>
                      <a:endParaRPr sz="1100" b="1" dirty="0">
                        <a:solidFill>
                          <a:schemeClr val="dk1"/>
                        </a:solidFill>
                        <a:latin typeface="Proxima Nova"/>
                        <a:ea typeface="Proxima Nova"/>
                        <a:cs typeface="Proxima Nova"/>
                        <a:sym typeface="Proxima Nova"/>
                      </a:endParaRPr>
                    </a:p>
                  </a:txBody>
                  <a:tcPr marL="91425" marR="91425" marT="91425" marB="91425" anchor="ctr"/>
                </a:tc>
                <a:tc>
                  <a:txBody>
                    <a:bodyPr/>
                    <a:lstStyle/>
                    <a:p>
                      <a:pPr marL="0" lvl="0" indent="0" algn="l" rtl="0">
                        <a:spcBef>
                          <a:spcPts val="0"/>
                        </a:spcBef>
                        <a:spcAft>
                          <a:spcPts val="0"/>
                        </a:spcAft>
                        <a:buNone/>
                      </a:pPr>
                      <a:r>
                        <a:rPr lang="en" sz="1100" b="1" dirty="0">
                          <a:solidFill>
                            <a:srgbClr val="980000"/>
                          </a:solidFill>
                          <a:latin typeface="Proxima Nova"/>
                          <a:ea typeface="Proxima Nova"/>
                          <a:cs typeface="Proxima Nova"/>
                          <a:sym typeface="Proxima Nova"/>
                        </a:rPr>
                        <a:t>Spotify songs with artist names, song IDs, track names, popularity scores, release dates, release years, and audio features including danceability, energy, valence, tempo, loudness, acousticness, speechiness, instrumentalness, liveness, key, mode, duration_ms, and explicit flag.</a:t>
                      </a:r>
                      <a:endParaRPr sz="1200" b="1" dirty="0"/>
                    </a:p>
                  </a:txBody>
                  <a:tcPr marL="91425" marR="91425" marT="91425" marB="91425" anchor="ctr"/>
                </a:tc>
                <a:extLst>
                  <a:ext uri="{0D108BD9-81ED-4DB2-BD59-A6C34878D82A}">
                    <a16:rowId xmlns:a16="http://schemas.microsoft.com/office/drawing/2014/main" val="10001"/>
                  </a:ext>
                </a:extLst>
              </a:tr>
              <a:tr h="353433">
                <a:tc>
                  <a:txBody>
                    <a:bodyPr/>
                    <a:lstStyle/>
                    <a:p>
                      <a:pPr marL="0" marR="0" lvl="0" indent="0" algn="l" rtl="0">
                        <a:lnSpc>
                          <a:spcPct val="115000"/>
                        </a:lnSpc>
                        <a:spcBef>
                          <a:spcPts val="0"/>
                        </a:spcBef>
                        <a:spcAft>
                          <a:spcPts val="1200"/>
                        </a:spcAft>
                        <a:buNone/>
                      </a:pPr>
                      <a:r>
                        <a:rPr lang="en" sz="1100" b="1">
                          <a:solidFill>
                            <a:schemeClr val="dk1"/>
                          </a:solidFill>
                          <a:latin typeface="Proxima Nova"/>
                          <a:ea typeface="Proxima Nova"/>
                          <a:cs typeface="Proxima Nova"/>
                          <a:sym typeface="Proxima Nova"/>
                        </a:rPr>
                        <a:t>Source</a:t>
                      </a:r>
                      <a:endParaRPr sz="1100" b="1">
                        <a:solidFill>
                          <a:schemeClr val="dk1"/>
                        </a:solidFill>
                        <a:latin typeface="Proxima Nova"/>
                        <a:ea typeface="Proxima Nova"/>
                        <a:cs typeface="Proxima Nova"/>
                        <a:sym typeface="Proxima Nova"/>
                      </a:endParaRPr>
                    </a:p>
                  </a:txBody>
                  <a:tcPr marL="91425" marR="91425" marT="91425" marB="91425" anchor="ctr"/>
                </a:tc>
                <a:tc>
                  <a:txBody>
                    <a:bodyPr/>
                    <a:lstStyle/>
                    <a:p>
                      <a:pPr marL="0" marR="0" lvl="0" indent="0" algn="l" rtl="0">
                        <a:lnSpc>
                          <a:spcPct val="115000"/>
                        </a:lnSpc>
                        <a:spcBef>
                          <a:spcPts val="0"/>
                        </a:spcBef>
                        <a:spcAft>
                          <a:spcPts val="1200"/>
                        </a:spcAft>
                        <a:buNone/>
                      </a:pPr>
                      <a:r>
                        <a:rPr lang="en" sz="1100" b="1">
                          <a:solidFill>
                            <a:srgbClr val="980000"/>
                          </a:solidFill>
                          <a:latin typeface="Proxima Nova"/>
                          <a:ea typeface="Proxima Nova"/>
                          <a:cs typeface="Proxima Nova"/>
                          <a:sym typeface="Proxima Nova"/>
                        </a:rPr>
                        <a:t>GitHub — Course Case Study (spotify_data.zip)</a:t>
                      </a:r>
                      <a:endParaRPr sz="1100" b="1">
                        <a:solidFill>
                          <a:srgbClr val="980000"/>
                        </a:solidFill>
                        <a:latin typeface="Proxima Nova"/>
                        <a:ea typeface="Proxima Nova"/>
                        <a:cs typeface="Proxima Nova"/>
                        <a:sym typeface="Proxima Nova"/>
                      </a:endParaRPr>
                    </a:p>
                  </a:txBody>
                  <a:tcPr marL="91425" marR="91425" marT="91425" marB="91425" anchor="ctr"/>
                </a:tc>
                <a:extLst>
                  <a:ext uri="{0D108BD9-81ED-4DB2-BD59-A6C34878D82A}">
                    <a16:rowId xmlns:a16="http://schemas.microsoft.com/office/drawing/2014/main" val="10002"/>
                  </a:ext>
                </a:extLst>
              </a:tr>
              <a:tr h="353433">
                <a:tc>
                  <a:txBody>
                    <a:bodyPr/>
                    <a:lstStyle/>
                    <a:p>
                      <a:pPr marL="0" lvl="0" indent="0" algn="l" rtl="0">
                        <a:lnSpc>
                          <a:spcPct val="115000"/>
                        </a:lnSpc>
                        <a:spcBef>
                          <a:spcPts val="0"/>
                        </a:spcBef>
                        <a:spcAft>
                          <a:spcPts val="1200"/>
                        </a:spcAft>
                        <a:buNone/>
                      </a:pPr>
                      <a:r>
                        <a:rPr lang="en" sz="1100" b="1">
                          <a:solidFill>
                            <a:schemeClr val="accent3"/>
                          </a:solidFill>
                          <a:latin typeface="Proxima Nova"/>
                          <a:ea typeface="Proxima Nova"/>
                          <a:cs typeface="Proxima Nova"/>
                          <a:sym typeface="Proxima Nova"/>
                        </a:rPr>
                        <a:t>📏</a:t>
                      </a:r>
                      <a:r>
                        <a:rPr lang="en" sz="1100" b="1">
                          <a:solidFill>
                            <a:schemeClr val="dk1"/>
                          </a:solidFill>
                          <a:latin typeface="Proxima Nova"/>
                          <a:ea typeface="Proxima Nova"/>
                          <a:cs typeface="Proxima Nova"/>
                          <a:sym typeface="Proxima Nova"/>
                        </a:rPr>
                        <a:t>How many rows/columns? </a:t>
                      </a:r>
                      <a:endParaRPr sz="1100" b="1">
                        <a:solidFill>
                          <a:srgbClr val="980000"/>
                        </a:solidFill>
                        <a:latin typeface="Proxima Nova"/>
                        <a:ea typeface="Proxima Nova"/>
                        <a:cs typeface="Proxima Nova"/>
                        <a:sym typeface="Proxima Nova"/>
                      </a:endParaRPr>
                    </a:p>
                  </a:txBody>
                  <a:tcPr marL="91425" marR="91425" marT="91425" marB="91425" anchor="ctr"/>
                </a:tc>
                <a:tc>
                  <a:txBody>
                    <a:bodyPr/>
                    <a:lstStyle/>
                    <a:p>
                      <a:pPr marL="0" lvl="0" indent="0" algn="l" rtl="0">
                        <a:spcBef>
                          <a:spcPts val="0"/>
                        </a:spcBef>
                        <a:spcAft>
                          <a:spcPts val="0"/>
                        </a:spcAft>
                        <a:buNone/>
                      </a:pPr>
                      <a:r>
                        <a:rPr lang="en" sz="1100" b="1">
                          <a:solidFill>
                            <a:srgbClr val="980000"/>
                          </a:solidFill>
                          <a:latin typeface="Proxima Nova"/>
                          <a:ea typeface="Proxima Nova"/>
                          <a:cs typeface="Proxima Nova"/>
                          <a:sym typeface="Proxima Nova"/>
                        </a:rPr>
                        <a:t>~170,000 rows, 19 columns</a:t>
                      </a:r>
                      <a:endParaRPr sz="1200" b="1"/>
                    </a:p>
                  </a:txBody>
                  <a:tcPr marL="91425" marR="91425" marT="91425" marB="91425" anchor="ctr"/>
                </a:tc>
                <a:extLst>
                  <a:ext uri="{0D108BD9-81ED-4DB2-BD59-A6C34878D82A}">
                    <a16:rowId xmlns:a16="http://schemas.microsoft.com/office/drawing/2014/main" val="10003"/>
                  </a:ext>
                </a:extLst>
              </a:tr>
              <a:tr h="538356">
                <a:tc>
                  <a:txBody>
                    <a:bodyPr/>
                    <a:lstStyle/>
                    <a:p>
                      <a:pPr marL="0" lvl="0" indent="0" algn="l" rtl="0">
                        <a:lnSpc>
                          <a:spcPct val="115000"/>
                        </a:lnSpc>
                        <a:spcBef>
                          <a:spcPts val="0"/>
                        </a:spcBef>
                        <a:spcAft>
                          <a:spcPts val="1200"/>
                        </a:spcAft>
                        <a:buNone/>
                      </a:pPr>
                      <a:r>
                        <a:rPr lang="en" sz="1100" b="1">
                          <a:solidFill>
                            <a:schemeClr val="accent3"/>
                          </a:solidFill>
                          <a:latin typeface="Proxima Nova"/>
                          <a:ea typeface="Proxima Nova"/>
                          <a:cs typeface="Proxima Nova"/>
                          <a:sym typeface="Proxima Nova"/>
                        </a:rPr>
                        <a:t>🔢 </a:t>
                      </a:r>
                      <a:r>
                        <a:rPr lang="en" sz="1100" b="1">
                          <a:solidFill>
                            <a:schemeClr val="dk1"/>
                          </a:solidFill>
                          <a:latin typeface="Proxima Nova"/>
                          <a:ea typeface="Proxima Nova"/>
                          <a:cs typeface="Proxima Nova"/>
                          <a:sym typeface="Proxima Nova"/>
                        </a:rPr>
                        <a:t>How many numerical/categorical columns?</a:t>
                      </a:r>
                      <a:endParaRPr sz="1100" b="1">
                        <a:solidFill>
                          <a:srgbClr val="980000"/>
                        </a:solidFill>
                        <a:latin typeface="Proxima Nova"/>
                        <a:ea typeface="Proxima Nova"/>
                        <a:cs typeface="Proxima Nova"/>
                        <a:sym typeface="Proxima Nova"/>
                      </a:endParaRPr>
                    </a:p>
                  </a:txBody>
                  <a:tcPr marL="91425" marR="91425" marT="91425" marB="91425" anchor="ctr"/>
                </a:tc>
                <a:tc>
                  <a:txBody>
                    <a:bodyPr/>
                    <a:lstStyle/>
                    <a:p>
                      <a:pPr marL="0" lvl="0" indent="0" algn="l" rtl="0">
                        <a:lnSpc>
                          <a:spcPct val="115000"/>
                        </a:lnSpc>
                        <a:spcBef>
                          <a:spcPts val="0"/>
                        </a:spcBef>
                        <a:spcAft>
                          <a:spcPts val="1200"/>
                        </a:spcAft>
                        <a:buClr>
                          <a:schemeClr val="dk1"/>
                        </a:buClr>
                        <a:buSzPts val="1100"/>
                        <a:buFont typeface="Arial"/>
                        <a:buNone/>
                      </a:pPr>
                      <a:r>
                        <a:rPr lang="en" sz="1100" b="1">
                          <a:solidFill>
                            <a:srgbClr val="980000"/>
                          </a:solidFill>
                          <a:latin typeface="Proxima Nova"/>
                          <a:ea typeface="Proxima Nova"/>
                          <a:cs typeface="Proxima Nova"/>
                          <a:sym typeface="Proxima Nova"/>
                        </a:rPr>
                        <a:t>Numerical (13) , Categorical(6)</a:t>
                      </a:r>
                      <a:endParaRPr sz="1200" b="1"/>
                    </a:p>
                  </a:txBody>
                  <a:tcPr marL="91425" marR="91425" marT="91425" marB="91425"/>
                </a:tc>
                <a:extLst>
                  <a:ext uri="{0D108BD9-81ED-4DB2-BD59-A6C34878D82A}">
                    <a16:rowId xmlns:a16="http://schemas.microsoft.com/office/drawing/2014/main" val="10004"/>
                  </a:ext>
                </a:extLst>
              </a:tr>
              <a:tr h="380050">
                <a:tc>
                  <a:txBody>
                    <a:bodyPr/>
                    <a:lstStyle/>
                    <a:p>
                      <a:pPr marL="0" lvl="0" indent="0" algn="l" rtl="0">
                        <a:lnSpc>
                          <a:spcPct val="115000"/>
                        </a:lnSpc>
                        <a:spcBef>
                          <a:spcPts val="0"/>
                        </a:spcBef>
                        <a:spcAft>
                          <a:spcPts val="1200"/>
                        </a:spcAft>
                        <a:buNone/>
                      </a:pPr>
                      <a:r>
                        <a:rPr lang="en" sz="1100" b="1">
                          <a:solidFill>
                            <a:schemeClr val="dk2"/>
                          </a:solidFill>
                          <a:latin typeface="Proxima Nova"/>
                          <a:ea typeface="Proxima Nova"/>
                          <a:cs typeface="Proxima Nova"/>
                          <a:sym typeface="Proxima Nova"/>
                        </a:rPr>
                        <a:t>🎯</a:t>
                      </a:r>
                      <a:r>
                        <a:rPr lang="en" sz="1100" b="1">
                          <a:solidFill>
                            <a:schemeClr val="dk1"/>
                          </a:solidFill>
                          <a:latin typeface="Proxima Nova"/>
                          <a:ea typeface="Proxima Nova"/>
                          <a:cs typeface="Proxima Nova"/>
                          <a:sym typeface="Proxima Nova"/>
                        </a:rPr>
                        <a:t> Which is the target column?</a:t>
                      </a:r>
                      <a:endParaRPr sz="1100" b="1">
                        <a:solidFill>
                          <a:srgbClr val="980000"/>
                        </a:solidFill>
                        <a:latin typeface="Proxima Nova"/>
                        <a:ea typeface="Proxima Nova"/>
                        <a:cs typeface="Proxima Nova"/>
                        <a:sym typeface="Proxima Nova"/>
                      </a:endParaRPr>
                    </a:p>
                  </a:txBody>
                  <a:tcPr marL="91425" marR="91425" marT="91425" marB="91425"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solidFill>
                            <a:srgbClr val="980000"/>
                          </a:solidFill>
                          <a:latin typeface="Proxima Nova"/>
                          <a:sym typeface="Proxima Nova"/>
                        </a:rPr>
                        <a:t>popularity</a:t>
                      </a:r>
                      <a:endParaRPr lang="en-US" sz="1400" b="1" dirty="0"/>
                    </a:p>
                  </a:txBody>
                  <a:tcPr marL="91425" marR="91425" marT="91425" marB="91425" anchor="ctr"/>
                </a:tc>
                <a:extLst>
                  <a:ext uri="{0D108BD9-81ED-4DB2-BD59-A6C34878D82A}">
                    <a16:rowId xmlns:a16="http://schemas.microsoft.com/office/drawing/2014/main" val="10005"/>
                  </a:ext>
                </a:extLst>
              </a:tr>
              <a:tr h="526235">
                <a:tc>
                  <a:txBody>
                    <a:bodyPr/>
                    <a:lstStyle/>
                    <a:p>
                      <a:pPr marL="0" lvl="0" indent="0" algn="l" rtl="0">
                        <a:lnSpc>
                          <a:spcPct val="115000"/>
                        </a:lnSpc>
                        <a:spcBef>
                          <a:spcPts val="0"/>
                        </a:spcBef>
                        <a:spcAft>
                          <a:spcPts val="1200"/>
                        </a:spcAft>
                        <a:buNone/>
                      </a:pPr>
                      <a:r>
                        <a:rPr lang="en" sz="1100" b="1">
                          <a:solidFill>
                            <a:schemeClr val="dk1"/>
                          </a:solidFill>
                          <a:latin typeface="Proxima Nova"/>
                          <a:ea typeface="Proxima Nova"/>
                          <a:cs typeface="Proxima Nova"/>
                          <a:sym typeface="Proxima Nova"/>
                        </a:rPr>
                        <a:t>🤔</a:t>
                      </a:r>
                      <a:r>
                        <a:rPr lang="en-US" sz="1100" b="1">
                          <a:solidFill>
                            <a:schemeClr val="dk1"/>
                          </a:solidFill>
                          <a:latin typeface="Proxima Nova"/>
                          <a:ea typeface="Proxima Nova"/>
                          <a:cs typeface="Proxima Nova"/>
                          <a:sym typeface="Proxima Nova"/>
                        </a:rPr>
                        <a:t>What kind of ML problem? </a:t>
                      </a:r>
                      <a:endParaRPr lang="en-US" sz="1100" b="1">
                        <a:solidFill>
                          <a:srgbClr val="980000"/>
                        </a:solidFill>
                        <a:latin typeface="Proxima Nova"/>
                        <a:ea typeface="Proxima Nova"/>
                        <a:cs typeface="Proxima Nova"/>
                        <a:sym typeface="Proxima Nova"/>
                      </a:endParaRPr>
                    </a:p>
                  </a:txBody>
                  <a:tcPr marL="91425" marR="91425" marT="91425" marB="91425"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solidFill>
                            <a:srgbClr val="980000"/>
                          </a:solidFill>
                          <a:latin typeface="Proxima Nova"/>
                          <a:sym typeface="Proxima Nova"/>
                        </a:rPr>
                        <a:t>regression</a:t>
                      </a:r>
                      <a:endParaRPr lang="en-US" sz="1400" b="1" dirty="0"/>
                    </a:p>
                  </a:txBody>
                  <a:tcPr marL="91425" marR="91425" marT="91425" marB="91425"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1400" b="1" dirty="0">
                <a:latin typeface="Proxima Nova"/>
                <a:ea typeface="Proxima Nova"/>
                <a:cs typeface="Proxima Nova"/>
                <a:sym typeface="Proxima Nova"/>
              </a:rPr>
              <a:t>📊Can you share a sample of data in Google Sheet [</a:t>
            </a:r>
            <a:r>
              <a:rPr lang="en" sz="1400" b="1" u="sng" dirty="0">
                <a:solidFill>
                  <a:schemeClr val="accent5"/>
                </a:solidFill>
                <a:latin typeface="Proxima Nova"/>
                <a:ea typeface="Proxima Nova"/>
                <a:cs typeface="Proxima Nova"/>
                <a:sym typeface="Proxima Nova"/>
                <a:hlinkClick r:id="rId3">
                  <a:extLst>
                    <a:ext uri="{A12FA001-AC4F-418D-AE19-62706E023703}">
                      <ahyp:hlinkClr xmlns:ahyp="http://schemas.microsoft.com/office/drawing/2018/hyperlinkcolor" val="tx"/>
                    </a:ext>
                  </a:extLst>
                </a:hlinkClick>
              </a:rPr>
              <a:t>sheet.new</a:t>
            </a:r>
            <a:r>
              <a:rPr lang="en" sz="1400" b="1" dirty="0">
                <a:latin typeface="Proxima Nova"/>
                <a:ea typeface="Proxima Nova"/>
                <a:cs typeface="Proxima Nova"/>
                <a:sym typeface="Proxima Nova"/>
              </a:rPr>
              <a:t>] (15 - 20 rows)? </a:t>
            </a:r>
            <a:endParaRPr sz="1289" b="1" i="1" dirty="0">
              <a:solidFill>
                <a:srgbClr val="980000"/>
              </a:solidFill>
              <a:latin typeface="Proxima Nova"/>
              <a:ea typeface="Proxima Nova"/>
              <a:cs typeface="Proxima Nova"/>
              <a:sym typeface="Proxima Nova"/>
            </a:endParaRPr>
          </a:p>
          <a:p>
            <a:pPr marL="0" lvl="0" indent="0" algn="l" rtl="0">
              <a:spcBef>
                <a:spcPts val="1200"/>
              </a:spcBef>
              <a:spcAft>
                <a:spcPts val="0"/>
              </a:spcAft>
              <a:buNone/>
            </a:pPr>
            <a:endParaRPr dirty="0"/>
          </a:p>
        </p:txBody>
      </p:sp>
      <p:sp>
        <p:nvSpPr>
          <p:cNvPr id="82" name="Google Shape;82;p17"/>
          <p:cNvSpPr txBox="1"/>
          <p:nvPr/>
        </p:nvSpPr>
        <p:spPr>
          <a:xfrm>
            <a:off x="418300" y="3818900"/>
            <a:ext cx="5569500" cy="658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sz="1289" b="1" i="1" u="sng" dirty="0">
                <a:solidFill>
                  <a:schemeClr val="hlink"/>
                </a:solidFill>
                <a:latin typeface="Proxima Nova"/>
                <a:ea typeface="Proxima Nova"/>
                <a:cs typeface="Proxima Nova"/>
                <a:sym typeface="Proxima Nova"/>
                <a:hlinkClick r:id="rId4"/>
              </a:rPr>
              <a:t>Google Sheets Link</a:t>
            </a:r>
            <a:endParaRPr sz="1800" dirty="0">
              <a:solidFill>
                <a:schemeClr val="dk2"/>
              </a:solidFill>
            </a:endParaRPr>
          </a:p>
        </p:txBody>
      </p:sp>
      <p:pic>
        <p:nvPicPr>
          <p:cNvPr id="3" name="Picture 2" descr="A screenshot of a computer&#10;&#10;AI-generated content may be incorrect.">
            <a:extLst>
              <a:ext uri="{FF2B5EF4-FFF2-40B4-BE49-F238E27FC236}">
                <a16:creationId xmlns:a16="http://schemas.microsoft.com/office/drawing/2014/main" id="{EDA1FD93-C612-6905-D686-2D2B6A614EC8}"/>
              </a:ext>
            </a:extLst>
          </p:cNvPr>
          <p:cNvPicPr>
            <a:picLocks noChangeAspect="1"/>
          </p:cNvPicPr>
          <p:nvPr/>
        </p:nvPicPr>
        <p:blipFill>
          <a:blip r:embed="rId5"/>
          <a:stretch>
            <a:fillRect/>
          </a:stretch>
        </p:blipFill>
        <p:spPr>
          <a:xfrm>
            <a:off x="418300" y="965058"/>
            <a:ext cx="7772400" cy="29065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8"/>
          <p:cNvSpPr txBox="1">
            <a:spLocks noGrp="1"/>
          </p:cNvSpPr>
          <p:nvPr>
            <p:ph type="body" idx="1"/>
          </p:nvPr>
        </p:nvSpPr>
        <p:spPr>
          <a:xfrm>
            <a:off x="311700" y="184750"/>
            <a:ext cx="8520600" cy="482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b="1">
                <a:solidFill>
                  <a:srgbClr val="5B0F00"/>
                </a:solidFill>
                <a:latin typeface="Proxima Nova"/>
                <a:ea typeface="Proxima Nova"/>
                <a:cs typeface="Proxima Nova"/>
                <a:sym typeface="Proxima Nova"/>
              </a:rPr>
              <a:t>Data Overview - Dataset 1: Spotify Tracks Dataset</a:t>
            </a:r>
            <a:endParaRPr sz="1600" b="1">
              <a:solidFill>
                <a:srgbClr val="5B0F00"/>
              </a:solidFill>
              <a:latin typeface="Proxima Nova"/>
              <a:ea typeface="Proxima Nova"/>
              <a:cs typeface="Proxima Nova"/>
              <a:sym typeface="Proxima Nova"/>
            </a:endParaRPr>
          </a:p>
          <a:p>
            <a:pPr marL="457200" lvl="0" indent="-342900" algn="l" rtl="0">
              <a:spcBef>
                <a:spcPts val="1200"/>
              </a:spcBef>
              <a:spcAft>
                <a:spcPts val="0"/>
              </a:spcAft>
              <a:buSzPts val="1800"/>
              <a:buFont typeface="Proxima Nova"/>
              <a:buChar char="●"/>
            </a:pPr>
            <a:r>
              <a:rPr lang="en" sz="1200" b="1">
                <a:solidFill>
                  <a:schemeClr val="accent3"/>
                </a:solidFill>
                <a:latin typeface="Proxima Nova"/>
                <a:ea typeface="Proxima Nova"/>
                <a:cs typeface="Proxima Nova"/>
                <a:sym typeface="Proxima Nova"/>
              </a:rPr>
              <a:t>📙 </a:t>
            </a:r>
            <a:r>
              <a:rPr lang="en" sz="1400" b="1">
                <a:solidFill>
                  <a:schemeClr val="dk1"/>
                </a:solidFill>
                <a:latin typeface="Proxima Nova"/>
                <a:ea typeface="Proxima Nova"/>
                <a:cs typeface="Proxima Nova"/>
                <a:sym typeface="Proxima Nova"/>
              </a:rPr>
              <a:t>Can you please add data dictionary (explanation of columns)?</a:t>
            </a:r>
            <a:r>
              <a:rPr lang="en" sz="1200" b="1">
                <a:solidFill>
                  <a:schemeClr val="accent3"/>
                </a:solidFill>
                <a:latin typeface="Proxima Nova"/>
                <a:ea typeface="Proxima Nova"/>
                <a:cs typeface="Proxima Nova"/>
                <a:sym typeface="Proxima Nova"/>
              </a:rPr>
              <a:t> </a:t>
            </a:r>
            <a:endParaRPr sz="1200" b="1">
              <a:solidFill>
                <a:schemeClr val="accent3"/>
              </a:solidFill>
              <a:latin typeface="Proxima Nova"/>
              <a:ea typeface="Proxima Nova"/>
              <a:cs typeface="Proxima Nova"/>
              <a:sym typeface="Proxima Nova"/>
            </a:endParaRPr>
          </a:p>
          <a:p>
            <a:pPr marL="0" lvl="0" indent="0" algn="l" rtl="0">
              <a:spcBef>
                <a:spcPts val="1200"/>
              </a:spcBef>
              <a:spcAft>
                <a:spcPts val="1200"/>
              </a:spcAft>
              <a:buNone/>
            </a:pPr>
            <a:endParaRPr sz="1200">
              <a:solidFill>
                <a:schemeClr val="accent3"/>
              </a:solidFill>
              <a:latin typeface="Proxima Nova"/>
              <a:ea typeface="Proxima Nova"/>
              <a:cs typeface="Proxima Nova"/>
              <a:sym typeface="Proxima Nova"/>
            </a:endParaRPr>
          </a:p>
        </p:txBody>
      </p:sp>
      <p:sp>
        <p:nvSpPr>
          <p:cNvPr id="88" name="Google Shape;88;p18"/>
          <p:cNvSpPr txBox="1"/>
          <p:nvPr/>
        </p:nvSpPr>
        <p:spPr>
          <a:xfrm>
            <a:off x="404550" y="818425"/>
            <a:ext cx="8334900" cy="3726000"/>
          </a:xfrm>
          <a:prstGeom prst="rect">
            <a:avLst/>
          </a:prstGeom>
          <a:noFill/>
          <a:ln>
            <a:noFill/>
          </a:ln>
        </p:spPr>
        <p:txBody>
          <a:bodyPr spcFirstLastPara="1" wrap="square" lIns="91425" tIns="91425" rIns="91425" bIns="91425" anchor="t" anchorCtr="0">
            <a:noAutofit/>
          </a:bodyPr>
          <a:lstStyle/>
          <a:p>
            <a:pPr marL="457200" lvl="0" indent="-295275" algn="l" rtl="0">
              <a:lnSpc>
                <a:spcPct val="115000"/>
              </a:lnSpc>
              <a:spcBef>
                <a:spcPts val="2400"/>
              </a:spcBef>
              <a:spcAft>
                <a:spcPts val="0"/>
              </a:spcAft>
              <a:buClr>
                <a:srgbClr val="3C4043"/>
              </a:buClr>
              <a:buSzPts val="1050"/>
              <a:buChar char="●"/>
            </a:pPr>
            <a:r>
              <a:rPr lang="en" sz="1050" b="1" dirty="0" err="1">
                <a:solidFill>
                  <a:srgbClr val="3C4043"/>
                </a:solidFill>
              </a:rPr>
              <a:t>id</a:t>
            </a:r>
            <a:r>
              <a:rPr lang="en" sz="1050" dirty="0">
                <a:solidFill>
                  <a:srgbClr val="3C4043"/>
                </a:solidFill>
              </a:rPr>
              <a:t>: Unique song ID</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a:solidFill>
                  <a:srgbClr val="3C4043"/>
                </a:solidFill>
              </a:rPr>
              <a:t>artists</a:t>
            </a:r>
            <a:r>
              <a:rPr lang="en" sz="1050" dirty="0">
                <a:solidFill>
                  <a:srgbClr val="3C4043"/>
                </a:solidFill>
              </a:rPr>
              <a:t>: Name of the artist(s) who performed the track</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err="1">
                <a:solidFill>
                  <a:srgbClr val="3C4043"/>
                </a:solidFill>
              </a:rPr>
              <a:t>release_date</a:t>
            </a:r>
            <a:r>
              <a:rPr lang="en" sz="1050" dirty="0">
                <a:solidFill>
                  <a:srgbClr val="3C4043"/>
                </a:solidFill>
              </a:rPr>
              <a:t>: When the song was released (date format)</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err="1">
                <a:solidFill>
                  <a:srgbClr val="3C4043"/>
                </a:solidFill>
              </a:rPr>
              <a:t>name</a:t>
            </a:r>
            <a:r>
              <a:rPr lang="en" sz="1050" dirty="0">
                <a:solidFill>
                  <a:srgbClr val="3C4043"/>
                </a:solidFill>
              </a:rPr>
              <a:t>: Name of the song</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a:solidFill>
                  <a:srgbClr val="3C4043"/>
                </a:solidFill>
              </a:rPr>
              <a:t>popularity</a:t>
            </a:r>
            <a:r>
              <a:rPr lang="en" sz="1050" dirty="0">
                <a:solidFill>
                  <a:srgbClr val="3C4043"/>
                </a:solidFill>
              </a:rPr>
              <a:t>: The popularity of a track is a value between 0 and 100, with 100 being the most popular. The popularity is calculated by algorithm and is based, in the most part, on the total number of plays the track has had and how recent those plays are. </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err="1">
                <a:solidFill>
                  <a:srgbClr val="3C4043"/>
                </a:solidFill>
              </a:rPr>
              <a:t>duration_ms</a:t>
            </a:r>
            <a:r>
              <a:rPr lang="en" sz="1050" dirty="0">
                <a:solidFill>
                  <a:srgbClr val="3C4043"/>
                </a:solidFill>
              </a:rPr>
              <a:t>: The track length in milliseconds</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a:solidFill>
                  <a:srgbClr val="3C4043"/>
                </a:solidFill>
              </a:rPr>
              <a:t>explicit</a:t>
            </a:r>
            <a:r>
              <a:rPr lang="en" sz="1050" dirty="0">
                <a:solidFill>
                  <a:srgbClr val="3C4043"/>
                </a:solidFill>
              </a:rPr>
              <a:t>: Whether or not the track has explicit lyrics (true = yes it does; false = no it does not OR unknown)</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a:solidFill>
                  <a:srgbClr val="3C4043"/>
                </a:solidFill>
              </a:rPr>
              <a:t>danceability</a:t>
            </a:r>
            <a:r>
              <a:rPr lang="en" sz="1050" dirty="0">
                <a:solidFill>
                  <a:srgbClr val="3C4043"/>
                </a:solidFill>
              </a:rPr>
              <a:t>: Danceability describes how suitable a track is for dancing based on a combination of musical elements including tempo, rhythm stability, beat strength, and overall regularity. A value of 0.0 is least danceable and 1.0 is most danceable</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a:solidFill>
                  <a:srgbClr val="3C4043"/>
                </a:solidFill>
              </a:rPr>
              <a:t>energy</a:t>
            </a:r>
            <a:r>
              <a:rPr lang="en" sz="1050" dirty="0">
                <a:solidFill>
                  <a:srgbClr val="3C4043"/>
                </a:solidFill>
              </a:rPr>
              <a:t>: Energy is a measure from 0.0 to 1.0 and represents a perceptual measure of intensity and activity. Typically, energetic tracks feel fast, loud, and noisy. For example, death metal has high energy, while a Bach prelude scores low on the scale</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a:solidFill>
                  <a:srgbClr val="3C4043"/>
                </a:solidFill>
              </a:rPr>
              <a:t>key</a:t>
            </a:r>
            <a:r>
              <a:rPr lang="en" sz="1050" dirty="0">
                <a:solidFill>
                  <a:srgbClr val="3C4043"/>
                </a:solidFill>
              </a:rPr>
              <a:t>: The key the track is in. Integers map to pitches using standard Pitch Class notation. E.g. </a:t>
            </a:r>
            <a:r>
              <a:rPr lang="en" sz="1050" dirty="0">
                <a:solidFill>
                  <a:srgbClr val="3C4043"/>
                </a:solidFill>
                <a:highlight>
                  <a:srgbClr val="F1F3F4"/>
                </a:highlight>
                <a:latin typeface="Roboto Mono"/>
                <a:ea typeface="Roboto Mono"/>
                <a:cs typeface="Roboto Mono"/>
                <a:sym typeface="Roboto Mono"/>
              </a:rPr>
              <a:t>0 = C</a:t>
            </a:r>
            <a:r>
              <a:rPr lang="en" sz="1050" dirty="0">
                <a:solidFill>
                  <a:srgbClr val="3C4043"/>
                </a:solidFill>
              </a:rPr>
              <a:t>, </a:t>
            </a:r>
            <a:r>
              <a:rPr lang="en" sz="1050" dirty="0">
                <a:solidFill>
                  <a:srgbClr val="3C4043"/>
                </a:solidFill>
                <a:highlight>
                  <a:srgbClr val="F1F3F4"/>
                </a:highlight>
                <a:latin typeface="Roboto Mono"/>
                <a:ea typeface="Roboto Mono"/>
                <a:cs typeface="Roboto Mono"/>
                <a:sym typeface="Roboto Mono"/>
              </a:rPr>
              <a:t>1 = C♯/D♭</a:t>
            </a:r>
            <a:r>
              <a:rPr lang="en" sz="1050" dirty="0">
                <a:solidFill>
                  <a:srgbClr val="3C4043"/>
                </a:solidFill>
              </a:rPr>
              <a:t>, </a:t>
            </a:r>
            <a:r>
              <a:rPr lang="en" sz="1050" dirty="0">
                <a:solidFill>
                  <a:srgbClr val="3C4043"/>
                </a:solidFill>
                <a:highlight>
                  <a:srgbClr val="F1F3F4"/>
                </a:highlight>
                <a:latin typeface="Roboto Mono"/>
                <a:ea typeface="Roboto Mono"/>
                <a:cs typeface="Roboto Mono"/>
                <a:sym typeface="Roboto Mono"/>
              </a:rPr>
              <a:t>2 = D</a:t>
            </a:r>
            <a:r>
              <a:rPr lang="en" sz="1050" dirty="0">
                <a:solidFill>
                  <a:srgbClr val="3C4043"/>
                </a:solidFill>
              </a:rPr>
              <a:t>, and so on. If no key was detected, the value is -1</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a:solidFill>
                  <a:srgbClr val="3C4043"/>
                </a:solidFill>
              </a:rPr>
              <a:t>loudness</a:t>
            </a:r>
            <a:r>
              <a:rPr lang="en" sz="1050" dirty="0">
                <a:solidFill>
                  <a:srgbClr val="3C4043"/>
                </a:solidFill>
              </a:rPr>
              <a:t>: The overall loudness of a track in decibels (dB)</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a:solidFill>
                  <a:srgbClr val="3C4043"/>
                </a:solidFill>
              </a:rPr>
              <a:t>mode</a:t>
            </a:r>
            <a:r>
              <a:rPr lang="en" sz="1050" dirty="0">
                <a:solidFill>
                  <a:srgbClr val="3C4043"/>
                </a:solidFill>
              </a:rPr>
              <a:t>: Mode indicates the modality (major or minor) of a track, the type of scale from which its melodic content is derived. Major is represented by 1 and minor is 0</a:t>
            </a:r>
            <a:endParaRPr sz="1050" dirty="0">
              <a:solidFill>
                <a:srgbClr val="3C4043"/>
              </a:solidFill>
            </a:endParaRPr>
          </a:p>
          <a:p>
            <a:pPr marL="0" lvl="0" indent="0" algn="l" rtl="0">
              <a:spcBef>
                <a:spcPts val="2400"/>
              </a:spcBef>
              <a:spcAft>
                <a:spcPts val="0"/>
              </a:spcAft>
              <a:buNone/>
            </a:pPr>
            <a:endParaRPr sz="1800" dirty="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9"/>
          <p:cNvSpPr txBox="1">
            <a:spLocks noGrp="1"/>
          </p:cNvSpPr>
          <p:nvPr>
            <p:ph type="body" idx="1"/>
          </p:nvPr>
        </p:nvSpPr>
        <p:spPr>
          <a:xfrm>
            <a:off x="311700" y="184750"/>
            <a:ext cx="8520600" cy="4820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b="1">
                <a:solidFill>
                  <a:srgbClr val="5B0F00"/>
                </a:solidFill>
                <a:latin typeface="Proxima Nova"/>
                <a:ea typeface="Proxima Nova"/>
                <a:cs typeface="Proxima Nova"/>
                <a:sym typeface="Proxima Nova"/>
              </a:rPr>
              <a:t>Data Overview - Dataset 1: Spotify Tracks Dataset</a:t>
            </a:r>
            <a:endParaRPr sz="1600" b="1">
              <a:solidFill>
                <a:srgbClr val="5B0F00"/>
              </a:solidFill>
              <a:latin typeface="Proxima Nova"/>
              <a:ea typeface="Proxima Nova"/>
              <a:cs typeface="Proxima Nova"/>
              <a:sym typeface="Proxima Nova"/>
            </a:endParaRPr>
          </a:p>
          <a:p>
            <a:pPr marL="457200" lvl="0" indent="-342900" algn="l" rtl="0">
              <a:spcBef>
                <a:spcPts val="1200"/>
              </a:spcBef>
              <a:spcAft>
                <a:spcPts val="0"/>
              </a:spcAft>
              <a:buSzPts val="1800"/>
              <a:buFont typeface="Proxima Nova"/>
              <a:buChar char="●"/>
            </a:pPr>
            <a:r>
              <a:rPr lang="en" sz="1200" b="1">
                <a:solidFill>
                  <a:schemeClr val="accent3"/>
                </a:solidFill>
                <a:latin typeface="Proxima Nova"/>
                <a:ea typeface="Proxima Nova"/>
                <a:cs typeface="Proxima Nova"/>
                <a:sym typeface="Proxima Nova"/>
              </a:rPr>
              <a:t>📙 </a:t>
            </a:r>
            <a:r>
              <a:rPr lang="en" sz="1400" b="1">
                <a:solidFill>
                  <a:schemeClr val="dk1"/>
                </a:solidFill>
                <a:latin typeface="Proxima Nova"/>
                <a:ea typeface="Proxima Nova"/>
                <a:cs typeface="Proxima Nova"/>
                <a:sym typeface="Proxima Nova"/>
              </a:rPr>
              <a:t>Can you please add data dictionary (explanation of columns)?</a:t>
            </a:r>
            <a:r>
              <a:rPr lang="en" sz="1200" b="1">
                <a:solidFill>
                  <a:schemeClr val="accent3"/>
                </a:solidFill>
                <a:latin typeface="Proxima Nova"/>
                <a:ea typeface="Proxima Nova"/>
                <a:cs typeface="Proxima Nova"/>
                <a:sym typeface="Proxima Nova"/>
              </a:rPr>
              <a:t> </a:t>
            </a:r>
            <a:endParaRPr sz="1200" b="1">
              <a:solidFill>
                <a:schemeClr val="accent3"/>
              </a:solidFill>
              <a:latin typeface="Proxima Nova"/>
              <a:ea typeface="Proxima Nova"/>
              <a:cs typeface="Proxima Nova"/>
              <a:sym typeface="Proxima Nova"/>
            </a:endParaRPr>
          </a:p>
          <a:p>
            <a:pPr marL="0" lvl="0" indent="0" algn="l" rtl="0">
              <a:spcBef>
                <a:spcPts val="1200"/>
              </a:spcBef>
              <a:spcAft>
                <a:spcPts val="1200"/>
              </a:spcAft>
              <a:buNone/>
            </a:pPr>
            <a:endParaRPr sz="1200">
              <a:solidFill>
                <a:schemeClr val="accent3"/>
              </a:solidFill>
              <a:latin typeface="Proxima Nova"/>
              <a:ea typeface="Proxima Nova"/>
              <a:cs typeface="Proxima Nova"/>
              <a:sym typeface="Proxima Nova"/>
            </a:endParaRPr>
          </a:p>
        </p:txBody>
      </p:sp>
      <p:sp>
        <p:nvSpPr>
          <p:cNvPr id="94" name="Google Shape;94;p19"/>
          <p:cNvSpPr txBox="1"/>
          <p:nvPr/>
        </p:nvSpPr>
        <p:spPr>
          <a:xfrm>
            <a:off x="311700" y="828604"/>
            <a:ext cx="8334900" cy="3726000"/>
          </a:xfrm>
          <a:prstGeom prst="rect">
            <a:avLst/>
          </a:prstGeom>
          <a:noFill/>
          <a:ln>
            <a:noFill/>
          </a:ln>
        </p:spPr>
        <p:txBody>
          <a:bodyPr spcFirstLastPara="1" wrap="square" lIns="91425" tIns="91425" rIns="91425" bIns="91425" anchor="t" anchorCtr="0">
            <a:noAutofit/>
          </a:bodyPr>
          <a:lstStyle/>
          <a:p>
            <a:pPr marL="457200" lvl="0" indent="-295275" algn="l" rtl="0">
              <a:lnSpc>
                <a:spcPct val="115000"/>
              </a:lnSpc>
              <a:spcBef>
                <a:spcPts val="2400"/>
              </a:spcBef>
              <a:spcAft>
                <a:spcPts val="0"/>
              </a:spcAft>
              <a:buClr>
                <a:srgbClr val="3C4043"/>
              </a:buClr>
              <a:buSzPts val="1050"/>
              <a:buChar char="●"/>
            </a:pPr>
            <a:r>
              <a:rPr lang="en" sz="1050" b="1" dirty="0" err="1">
                <a:solidFill>
                  <a:srgbClr val="3C4043"/>
                </a:solidFill>
              </a:rPr>
              <a:t>speechiness</a:t>
            </a:r>
            <a:r>
              <a:rPr lang="en" sz="1050" dirty="0">
                <a:solidFill>
                  <a:srgbClr val="3C4043"/>
                </a:solidFill>
              </a:rPr>
              <a:t>: </a:t>
            </a:r>
            <a:r>
              <a:rPr lang="en" sz="1050" dirty="0" err="1">
                <a:solidFill>
                  <a:srgbClr val="3C4043"/>
                </a:solidFill>
              </a:rPr>
              <a:t>Speechiness</a:t>
            </a:r>
            <a:r>
              <a:rPr lang="en" sz="1050" dirty="0">
                <a:solidFill>
                  <a:srgbClr val="3C4043"/>
                </a:solidFill>
              </a:rPr>
              <a:t> detects the presence of spoken words in a track. The more exclusively speech-like the recording (e.g. talk show, audio book, poetry), the closer to 1.0 the attribute value. Values above 0.66 describe tracks that are probably made entirely of spoken words. Values between 0.33 and 0.66 describe tracks that may contain both music and speech, either in sections or layered, including such cases as rap music. Values below 0.33 most likely represent music and other non-speech-like tracks</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err="1">
                <a:solidFill>
                  <a:srgbClr val="3C4043"/>
                </a:solidFill>
              </a:rPr>
              <a:t>acousticness</a:t>
            </a:r>
            <a:r>
              <a:rPr lang="en" sz="1050" dirty="0">
                <a:solidFill>
                  <a:srgbClr val="3C4043"/>
                </a:solidFill>
              </a:rPr>
              <a:t>: A confidence measure from 0.0 to 1.0 of whether the track is acoustic. 1.0 represents high confidence the track is acoustic</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err="1">
                <a:solidFill>
                  <a:srgbClr val="3C4043"/>
                </a:solidFill>
              </a:rPr>
              <a:t>instrumentalness</a:t>
            </a:r>
            <a:r>
              <a:rPr lang="en" sz="1050" dirty="0">
                <a:solidFill>
                  <a:srgbClr val="3C4043"/>
                </a:solidFill>
              </a:rPr>
              <a:t>: Predicts whether a track contains no vocals. "Ooh" and "aah" sounds are treated as instrumental in this context. Rap or spoken word tracks are clearly "vocal". The closer the </a:t>
            </a:r>
            <a:r>
              <a:rPr lang="en" sz="1050" dirty="0" err="1">
                <a:solidFill>
                  <a:srgbClr val="3C4043"/>
                </a:solidFill>
              </a:rPr>
              <a:t>instrumentalness</a:t>
            </a:r>
            <a:r>
              <a:rPr lang="en" sz="1050" dirty="0">
                <a:solidFill>
                  <a:srgbClr val="3C4043"/>
                </a:solidFill>
              </a:rPr>
              <a:t> value is to 1.0, the greater likelihood the track contains no vocal content</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a:solidFill>
                  <a:srgbClr val="3C4043"/>
                </a:solidFill>
              </a:rPr>
              <a:t>liveness</a:t>
            </a:r>
            <a:r>
              <a:rPr lang="en" sz="1050" dirty="0">
                <a:solidFill>
                  <a:srgbClr val="3C4043"/>
                </a:solidFill>
              </a:rPr>
              <a:t>: Detects the presence of an audience in the recording. Higher liveness values represent an increased probability that the track was performed live. A value above 0.8 provides strong likelihood that the track is live</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a:solidFill>
                  <a:srgbClr val="3C4043"/>
                </a:solidFill>
              </a:rPr>
              <a:t>valence</a:t>
            </a:r>
            <a:r>
              <a:rPr lang="en" sz="1050" dirty="0">
                <a:solidFill>
                  <a:srgbClr val="3C4043"/>
                </a:solidFill>
              </a:rPr>
              <a:t>: A measure from 0.0 to 1.0 describing the musical positiveness conveyed by a track. Tracks with high valence sound more positive (e.g. happy, cheerful, euphoric), while tracks with low valence sound more negative (e.g. sad, depressed, angry)</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a:solidFill>
                  <a:srgbClr val="3C4043"/>
                </a:solidFill>
              </a:rPr>
              <a:t>tempo</a:t>
            </a:r>
            <a:r>
              <a:rPr lang="en" sz="1050" dirty="0">
                <a:solidFill>
                  <a:srgbClr val="3C4043"/>
                </a:solidFill>
              </a:rPr>
              <a:t>: The overall estimated tempo of a track in beats per minute (BPM). In musical terminology, tempo is the speed or pace of a given piece and derives directly from the average beat duration</a:t>
            </a:r>
            <a:endParaRPr sz="1050" dirty="0">
              <a:solidFill>
                <a:srgbClr val="3C4043"/>
              </a:solidFill>
            </a:endParaRPr>
          </a:p>
          <a:p>
            <a:pPr marL="457200" lvl="0" indent="-295275" algn="l" rtl="0">
              <a:lnSpc>
                <a:spcPct val="115000"/>
              </a:lnSpc>
              <a:spcBef>
                <a:spcPts val="0"/>
              </a:spcBef>
              <a:spcAft>
                <a:spcPts val="0"/>
              </a:spcAft>
              <a:buClr>
                <a:srgbClr val="3C4043"/>
              </a:buClr>
              <a:buSzPts val="1050"/>
              <a:buChar char="●"/>
            </a:pPr>
            <a:r>
              <a:rPr lang="en" sz="1050" b="1" dirty="0" err="1">
                <a:solidFill>
                  <a:srgbClr val="3C4043"/>
                </a:solidFill>
              </a:rPr>
              <a:t>year</a:t>
            </a:r>
            <a:r>
              <a:rPr lang="en" sz="1050" dirty="0">
                <a:solidFill>
                  <a:srgbClr val="3C4043"/>
                </a:solidFill>
              </a:rPr>
              <a:t>: The release year of the song (numeric). Used as a temporal control variable in the regression model.</a:t>
            </a:r>
            <a:endParaRPr sz="1050" dirty="0">
              <a:solidFill>
                <a:srgbClr val="3C4043"/>
              </a:solidFill>
            </a:endParaRPr>
          </a:p>
          <a:p>
            <a:pPr marL="0" lvl="0" indent="0" algn="l" rtl="0">
              <a:spcBef>
                <a:spcPts val="2400"/>
              </a:spcBef>
              <a:spcAft>
                <a:spcPts val="0"/>
              </a:spcAft>
              <a:buNone/>
            </a:pPr>
            <a:endParaRPr sz="1050" b="1" dirty="0">
              <a:solidFill>
                <a:srgbClr val="3C404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2"/>
          <p:cNvSpPr txBox="1">
            <a:spLocks noGrp="1"/>
          </p:cNvSpPr>
          <p:nvPr>
            <p:ph type="body" idx="1"/>
          </p:nvPr>
        </p:nvSpPr>
        <p:spPr>
          <a:xfrm>
            <a:off x="311700" y="184750"/>
            <a:ext cx="8520600" cy="43842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sz="1600" b="1" dirty="0">
                <a:solidFill>
                  <a:srgbClr val="5B0F00"/>
                </a:solidFill>
                <a:latin typeface="Proxima Nova"/>
                <a:ea typeface="Proxima Nova"/>
                <a:cs typeface="Proxima Nova"/>
                <a:sym typeface="Proxima Nova"/>
              </a:rPr>
              <a:t>Methodological Overview</a:t>
            </a:r>
            <a:endParaRPr sz="1600" b="1" dirty="0">
              <a:solidFill>
                <a:srgbClr val="5B0F00"/>
              </a:solidFill>
              <a:latin typeface="Proxima Nova"/>
              <a:ea typeface="Proxima Nova"/>
              <a:cs typeface="Proxima Nova"/>
              <a:sym typeface="Proxima Nova"/>
            </a:endParaRPr>
          </a:p>
          <a:p>
            <a:pPr marL="0" lvl="0" indent="0" algn="l" rtl="0">
              <a:spcBef>
                <a:spcPts val="1200"/>
              </a:spcBef>
              <a:spcAft>
                <a:spcPts val="0"/>
              </a:spcAft>
              <a:buNone/>
            </a:pPr>
            <a:r>
              <a:rPr lang="en" sz="1400" b="1" dirty="0">
                <a:solidFill>
                  <a:schemeClr val="dk1"/>
                </a:solidFill>
                <a:latin typeface="Proxima Nova"/>
                <a:ea typeface="Proxima Nova"/>
                <a:cs typeface="Proxima Nova"/>
                <a:sym typeface="Proxima Nova"/>
              </a:rPr>
              <a:t>🛠️ Have you considered any techniques, pre-processing etc., that you will use?</a:t>
            </a:r>
            <a:endParaRPr sz="1400" b="1" dirty="0">
              <a:solidFill>
                <a:schemeClr val="dk1"/>
              </a:solidFill>
              <a:latin typeface="Proxima Nova"/>
              <a:ea typeface="Proxima Nova"/>
              <a:cs typeface="Proxima Nova"/>
              <a:sym typeface="Proxima Nova"/>
            </a:endParaRPr>
          </a:p>
          <a:p>
            <a:pPr marL="0" lvl="0" indent="0" algn="l" rtl="0">
              <a:spcBef>
                <a:spcPts val="1200"/>
              </a:spcBef>
              <a:spcAft>
                <a:spcPts val="0"/>
              </a:spcAft>
              <a:buClr>
                <a:schemeClr val="dk1"/>
              </a:buClr>
              <a:buSzPct val="84615"/>
              <a:buFont typeface="Arial"/>
              <a:buNone/>
            </a:pPr>
            <a:r>
              <a:rPr lang="en-US" sz="1300" b="1" dirty="0">
                <a:solidFill>
                  <a:srgbClr val="980000"/>
                </a:solidFill>
                <a:latin typeface="Proxima Nova"/>
                <a:ea typeface="Proxima Nova"/>
                <a:cs typeface="Proxima Nova"/>
                <a:sym typeface="Proxima Nova"/>
              </a:rPr>
              <a:t>EDA: Numerical and graphical summaries to identify which audio features are most associated with popularity. </a:t>
            </a:r>
          </a:p>
          <a:p>
            <a:pPr marL="0" lvl="0" indent="0" algn="l" rtl="0">
              <a:spcBef>
                <a:spcPts val="1200"/>
              </a:spcBef>
              <a:spcAft>
                <a:spcPts val="0"/>
              </a:spcAft>
              <a:buClr>
                <a:schemeClr val="dk1"/>
              </a:buClr>
              <a:buSzPct val="84615"/>
              <a:buFont typeface="Arial"/>
              <a:buNone/>
            </a:pPr>
            <a:r>
              <a:rPr lang="en-US" sz="1300" b="1" dirty="0">
                <a:solidFill>
                  <a:srgbClr val="980000"/>
                </a:solidFill>
                <a:latin typeface="Proxima Nova"/>
                <a:ea typeface="Proxima Nova"/>
                <a:cs typeface="Proxima Nova"/>
                <a:sym typeface="Proxima Nova"/>
              </a:rPr>
              <a:t>Modelling: Linear Regression on numeric features only; 80/20 train-test split; evaluate using R² and RMSE on both train and test sets; plot actual vs. predicted values; attempt to improve accuracy by standardising features (StandardScaler). </a:t>
            </a:r>
            <a:endParaRPr sz="1400" b="1" dirty="0">
              <a:solidFill>
                <a:schemeClr val="dk1"/>
              </a:solidFill>
              <a:latin typeface="Proxima Nova"/>
              <a:ea typeface="Proxima Nova"/>
              <a:cs typeface="Proxima Nova"/>
              <a:sym typeface="Proxima Nova"/>
            </a:endParaRPr>
          </a:p>
          <a:p>
            <a:pPr marL="0" lvl="0" indent="0" algn="l" rtl="0">
              <a:spcBef>
                <a:spcPts val="1200"/>
              </a:spcBef>
              <a:spcAft>
                <a:spcPts val="0"/>
              </a:spcAft>
              <a:buNone/>
            </a:pPr>
            <a:r>
              <a:rPr lang="en" sz="1400" b="1" dirty="0">
                <a:solidFill>
                  <a:schemeClr val="dk1"/>
                </a:solidFill>
                <a:latin typeface="Proxima Nova"/>
                <a:ea typeface="Proxima Nova"/>
                <a:cs typeface="Proxima Nova"/>
                <a:sym typeface="Proxima Nova"/>
              </a:rPr>
              <a:t>⏳ Do you expect it to get solved within the time frame of the course?</a:t>
            </a:r>
            <a:endParaRPr sz="1400" b="1" dirty="0">
              <a:solidFill>
                <a:schemeClr val="dk1"/>
              </a:solidFill>
              <a:latin typeface="Proxima Nova"/>
              <a:ea typeface="Proxima Nova"/>
              <a:cs typeface="Proxima Nova"/>
              <a:sym typeface="Proxima Nova"/>
            </a:endParaRPr>
          </a:p>
          <a:p>
            <a:pPr marL="0" lvl="0" indent="0" algn="l" rtl="0">
              <a:spcBef>
                <a:spcPts val="1200"/>
              </a:spcBef>
              <a:spcAft>
                <a:spcPts val="0"/>
              </a:spcAft>
              <a:buClr>
                <a:schemeClr val="dk1"/>
              </a:buClr>
              <a:buSzPct val="84615"/>
              <a:buFont typeface="Arial"/>
              <a:buNone/>
            </a:pPr>
            <a:r>
              <a:rPr lang="en" sz="1300" b="1" dirty="0">
                <a:solidFill>
                  <a:srgbClr val="980000"/>
                </a:solidFill>
                <a:latin typeface="Proxima Nova"/>
                <a:ea typeface="Proxima Nova"/>
                <a:cs typeface="Proxima Nova"/>
                <a:sym typeface="Proxima Nova"/>
              </a:rPr>
              <a:t>Yes. </a:t>
            </a:r>
            <a:endParaRPr sz="1400" b="1" dirty="0">
              <a:solidFill>
                <a:schemeClr val="dk1"/>
              </a:solidFill>
              <a:latin typeface="Proxima Nova"/>
              <a:ea typeface="Proxima Nova"/>
              <a:cs typeface="Proxima Nova"/>
              <a:sym typeface="Proxima Nova"/>
            </a:endParaRPr>
          </a:p>
          <a:p>
            <a:pPr marL="0" lvl="0" indent="0" algn="l" rtl="0">
              <a:spcBef>
                <a:spcPts val="1200"/>
              </a:spcBef>
              <a:spcAft>
                <a:spcPts val="0"/>
              </a:spcAft>
              <a:buNone/>
            </a:pPr>
            <a:r>
              <a:rPr lang="en" sz="1400" b="1" dirty="0">
                <a:solidFill>
                  <a:schemeClr val="dk1"/>
                </a:solidFill>
                <a:latin typeface="Proxima Nova"/>
                <a:ea typeface="Proxima Nova"/>
                <a:cs typeface="Proxima Nova"/>
                <a:sym typeface="Proxima Nova"/>
              </a:rPr>
              <a:t>💡 What potential challenges do you expect?</a:t>
            </a:r>
            <a:endParaRPr sz="1400" b="1" dirty="0">
              <a:solidFill>
                <a:schemeClr val="dk1"/>
              </a:solidFill>
              <a:latin typeface="Proxima Nova"/>
              <a:ea typeface="Proxima Nova"/>
              <a:cs typeface="Proxima Nova"/>
              <a:sym typeface="Proxima Nova"/>
            </a:endParaRPr>
          </a:p>
          <a:p>
            <a:pPr marL="0" lvl="0" indent="0" algn="l" rtl="0">
              <a:spcBef>
                <a:spcPts val="1200"/>
              </a:spcBef>
              <a:spcAft>
                <a:spcPts val="0"/>
              </a:spcAft>
              <a:buClr>
                <a:schemeClr val="dk1"/>
              </a:buClr>
              <a:buSzPct val="84615"/>
              <a:buFont typeface="Arial"/>
              <a:buNone/>
            </a:pPr>
            <a:r>
              <a:rPr lang="en" sz="1300" b="1" dirty="0">
                <a:solidFill>
                  <a:srgbClr val="980000"/>
                </a:solidFill>
                <a:latin typeface="Proxima Nova"/>
                <a:ea typeface="Proxima Nova"/>
                <a:cs typeface="Proxima Nova"/>
                <a:sym typeface="Proxima Nova"/>
              </a:rPr>
              <a:t>Audio features alone may not fully explain popularity. External factors like marketing, playlist placement, and social media virality are not captured in the data. The linear regression baseline may have limited predictive power given the complexity of music trends. Overfitting is a risk if the dataset is not split carefully, so train vs. test performance will need to be monitored. Popularity scores can drift over time as older tracks lose streams, so the model reflects a snapshot rather than a timeless truth.</a:t>
            </a:r>
            <a:endParaRPr sz="1200" dirty="0">
              <a:solidFill>
                <a:schemeClr val="accent3"/>
              </a:solidFill>
              <a:latin typeface="Proxima Nova"/>
              <a:ea typeface="Proxima Nova"/>
              <a:cs typeface="Proxima Nova"/>
              <a:sym typeface="Proxima Nova"/>
            </a:endParaRPr>
          </a:p>
          <a:p>
            <a:pPr marL="0" lvl="0" indent="0" algn="l" rtl="0">
              <a:spcBef>
                <a:spcPts val="1200"/>
              </a:spcBef>
              <a:spcAft>
                <a:spcPts val="0"/>
              </a:spcAft>
              <a:buNone/>
            </a:pPr>
            <a:endParaRPr sz="1400" b="1" dirty="0">
              <a:solidFill>
                <a:schemeClr val="dk1"/>
              </a:solidFill>
              <a:latin typeface="Proxima Nova"/>
              <a:ea typeface="Proxima Nova"/>
              <a:cs typeface="Proxima Nova"/>
              <a:sym typeface="Proxima Nova"/>
            </a:endParaRPr>
          </a:p>
          <a:p>
            <a:pPr marL="0" lvl="0" indent="0" algn="l" rtl="0">
              <a:spcBef>
                <a:spcPts val="1200"/>
              </a:spcBef>
              <a:spcAft>
                <a:spcPts val="1200"/>
              </a:spcAft>
              <a:buClr>
                <a:schemeClr val="dk1"/>
              </a:buClr>
              <a:buSzPct val="78571"/>
              <a:buFont typeface="Arial"/>
              <a:buNone/>
            </a:pPr>
            <a:endParaRPr sz="1400" b="1" dirty="0">
              <a:solidFill>
                <a:schemeClr val="dk1"/>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3"/>
          <p:cNvSpPr txBox="1">
            <a:spLocks noGrp="1"/>
          </p:cNvSpPr>
          <p:nvPr>
            <p:ph type="body" idx="1"/>
          </p:nvPr>
        </p:nvSpPr>
        <p:spPr>
          <a:xfrm>
            <a:off x="311700" y="184750"/>
            <a:ext cx="8520600" cy="4384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600" b="1" dirty="0">
                <a:solidFill>
                  <a:srgbClr val="5B0F00"/>
                </a:solidFill>
                <a:latin typeface="Proxima Nova"/>
                <a:ea typeface="Proxima Nova"/>
                <a:cs typeface="Proxima Nova"/>
                <a:sym typeface="Proxima Nova"/>
              </a:rPr>
              <a:t>Methodological Overview</a:t>
            </a:r>
            <a:endParaRPr sz="1600" b="1" dirty="0">
              <a:solidFill>
                <a:srgbClr val="5B0F00"/>
              </a:solidFill>
              <a:latin typeface="Proxima Nova"/>
              <a:ea typeface="Proxima Nova"/>
              <a:cs typeface="Proxima Nova"/>
              <a:sym typeface="Proxima Nova"/>
            </a:endParaRPr>
          </a:p>
          <a:p>
            <a:pPr marL="0" lvl="0" indent="0" algn="l" rtl="0">
              <a:spcBef>
                <a:spcPts val="1200"/>
              </a:spcBef>
              <a:spcAft>
                <a:spcPts val="0"/>
              </a:spcAft>
              <a:buNone/>
            </a:pPr>
            <a:r>
              <a:rPr lang="en" sz="1400" b="1" dirty="0">
                <a:solidFill>
                  <a:schemeClr val="dk1"/>
                </a:solidFill>
                <a:latin typeface="Proxima Nova"/>
                <a:ea typeface="Proxima Nova"/>
                <a:cs typeface="Proxima Nova"/>
                <a:sym typeface="Proxima Nova"/>
              </a:rPr>
              <a:t>💬 What is the main thing you would like to discuss in the </a:t>
            </a:r>
            <a:r>
              <a:rPr lang="en" sz="1400" b="1">
                <a:solidFill>
                  <a:schemeClr val="dk1"/>
                </a:solidFill>
                <a:latin typeface="Proxima Nova"/>
                <a:ea typeface="Proxima Nova"/>
                <a:cs typeface="Proxima Nova"/>
                <a:sym typeface="Proxima Nova"/>
              </a:rPr>
              <a:t>1-1?</a:t>
            </a:r>
            <a:endParaRPr sz="1400" b="1" dirty="0">
              <a:solidFill>
                <a:schemeClr val="dk1"/>
              </a:solidFill>
              <a:latin typeface="Proxima Nova"/>
              <a:ea typeface="Proxima Nova"/>
              <a:cs typeface="Proxima Nova"/>
              <a:sym typeface="Proxima Nova"/>
            </a:endParaRPr>
          </a:p>
        </p:txBody>
      </p:sp>
      <p:sp>
        <p:nvSpPr>
          <p:cNvPr id="2" name="TextBox 1">
            <a:extLst>
              <a:ext uri="{FF2B5EF4-FFF2-40B4-BE49-F238E27FC236}">
                <a16:creationId xmlns:a16="http://schemas.microsoft.com/office/drawing/2014/main" id="{76C72F51-671F-4302-46C0-BC81AB0C6CDA}"/>
              </a:ext>
            </a:extLst>
          </p:cNvPr>
          <p:cNvSpPr txBox="1"/>
          <p:nvPr/>
        </p:nvSpPr>
        <p:spPr>
          <a:xfrm>
            <a:off x="311700" y="1113576"/>
            <a:ext cx="8044649" cy="307777"/>
          </a:xfrm>
          <a:prstGeom prst="rect">
            <a:avLst/>
          </a:prstGeom>
          <a:noFill/>
        </p:spPr>
        <p:txBody>
          <a:bodyPr wrap="square" rtlCol="0">
            <a:spAutoFit/>
          </a:bodyPr>
          <a:lstStyle/>
          <a:p>
            <a:r>
              <a:rPr lang="en-US" sz="1400" b="1" dirty="0">
                <a:solidFill>
                  <a:srgbClr val="980000"/>
                </a:solidFill>
                <a:latin typeface="Proxima Nova"/>
                <a:ea typeface="Proxima Nova"/>
                <a:cs typeface="Proxima Nova"/>
                <a:sym typeface="Proxima Nova"/>
              </a:rPr>
              <a:t>Whether the conclusions driven from the project are sufficient for the capstone requirements. </a:t>
            </a:r>
            <a:endParaRPr lang="en-US"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TotalTime>
  <Words>1283</Words>
  <Application>Microsoft Macintosh PowerPoint</Application>
  <PresentationFormat>On-screen Show (16:9)</PresentationFormat>
  <Paragraphs>69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Roboto Mono</vt:lpstr>
      <vt:lpstr>Proxima Nova</vt:lpstr>
      <vt:lpstr>Arial</vt:lpstr>
      <vt:lpstr>Simple Light</vt:lpstr>
      <vt:lpstr>Capstone Discussion</vt:lpstr>
      <vt:lpstr>PowerPoint Presentation</vt:lpstr>
      <vt:lpstr>PowerPoint Presentation</vt:lpstr>
      <vt:lpstr>PowerPoint Presentation</vt:lpstr>
      <vt:lpstr>📊Can you share a sample of data in Google Sheet [sheet.new] (15 - 20 rows)?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Cagla Akin</cp:lastModifiedBy>
  <cp:revision>7</cp:revision>
  <dcterms:modified xsi:type="dcterms:W3CDTF">2026-05-07T11:40:51Z</dcterms:modified>
</cp:coreProperties>
</file>