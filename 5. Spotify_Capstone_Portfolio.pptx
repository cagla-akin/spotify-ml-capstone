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76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84D-8748-9E66-CE41662C2FFB}"/>
              </c:ext>
            </c:extLst>
          </c:dPt>
          <c:dPt>
            <c:idx val="1"/>
            <c:invertIfNegative val="0"/>
            <c:bubble3D val="0"/>
            <c:spPr>
              <a:solidFill>
                <a:srgbClr val="7B68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4D-8748-9E66-CE41662C2FFB}"/>
              </c:ext>
            </c:extLst>
          </c:dPt>
          <c:dPt>
            <c:idx val="2"/>
            <c:invertIfNegative val="0"/>
            <c:bubble3D val="0"/>
            <c:spPr>
              <a:solidFill>
                <a:srgbClr val="1DB9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84D-8748-9E66-CE41662C2FFB}"/>
              </c:ext>
            </c:extLst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84D-8748-9E66-CE41662C2FFB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LR Baseline</c:v>
                </c:pt>
                <c:pt idx="1">
                  <c:v>LR + Artist
&amp; Year</c:v>
                </c:pt>
                <c:pt idx="2">
                  <c:v>Random
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0.46750000000000003</c:v>
                </c:pt>
                <c:pt idx="1">
                  <c:v>0.8599</c:v>
                </c:pt>
                <c:pt idx="2">
                  <c:v>0.87649999999999995</c:v>
                </c:pt>
                <c:pt idx="3">
                  <c:v>0.87280000000000002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84D-8748-9E66-CE41662C2F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9A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9A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0D0D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0D0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</c:v>
                </c:pt>
              </c:strCache>
            </c:strRef>
          </c:tx>
          <c:spPr>
            <a:solidFill>
              <a:srgbClr val="1DB95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537-8144-B4FF-B8429342723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537-8144-B4FF-B8429342723D}"/>
              </c:ext>
            </c:extLst>
          </c:dPt>
          <c:dPt>
            <c:idx val="2"/>
            <c:invertIfNegative val="0"/>
            <c:bubble3D val="0"/>
            <c:spPr>
              <a:solidFill>
                <a:srgbClr val="44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537-8144-B4FF-B8429342723D}"/>
              </c:ext>
            </c:extLst>
          </c:dPt>
          <c:dPt>
            <c:idx val="3"/>
            <c:invertIfNegative val="0"/>
            <c:bubble3D val="0"/>
            <c:spPr>
              <a:solidFill>
                <a:srgbClr val="44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537-8144-B4FF-B8429342723D}"/>
              </c:ext>
            </c:extLst>
          </c:dPt>
          <c:dPt>
            <c:idx val="4"/>
            <c:invertIfNegative val="0"/>
            <c:bubble3D val="0"/>
            <c:spPr>
              <a:solidFill>
                <a:srgbClr val="44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537-8144-B4FF-B8429342723D}"/>
              </c:ext>
            </c:extLst>
          </c:dPt>
          <c:dPt>
            <c:idx val="5"/>
            <c:invertIfNegative val="0"/>
            <c:bubble3D val="0"/>
            <c:spPr>
              <a:solidFill>
                <a:srgbClr val="44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537-8144-B4FF-B8429342723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Year</c:v>
                </c:pt>
                <c:pt idx="1">
                  <c:v>Artist Avg
Popularity</c:v>
                </c:pt>
                <c:pt idx="2">
                  <c:v>Duration</c:v>
                </c:pt>
                <c:pt idx="3">
                  <c:v>Liveness</c:v>
                </c:pt>
                <c:pt idx="4">
                  <c:v>Loudness</c:v>
                </c:pt>
                <c:pt idx="5">
                  <c:v>All 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70.55</c:v>
                </c:pt>
                <c:pt idx="1">
                  <c:v>26.42</c:v>
                </c:pt>
                <c:pt idx="2">
                  <c:v>0.39</c:v>
                </c:pt>
                <c:pt idx="3">
                  <c:v>0.32</c:v>
                </c:pt>
                <c:pt idx="4">
                  <c:v>0.32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537-8144-B4FF-B842934272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9A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b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9A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1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7023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3474720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0" y="3474720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0" y="3474720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80960" y="3474720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46720" y="3474720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412480" y="3474720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83680" y="3822192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49440" y="3822192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0" y="3822192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80960" y="3822192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46720" y="3822192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12480" y="3822192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83680" y="4169664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49440" y="4169664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0" y="4169664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80960" y="4169664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46720" y="4169664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412480" y="4169664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83680" y="4517136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49440" y="4517136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0" y="4517136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680960" y="4517136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46720" y="4517136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412480" y="4517136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10058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 Song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502920" y="17373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Popular?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502920" y="26517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Spotify Track Popularity with Machine Learning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2920" y="3383280"/>
            <a:ext cx="4114800" cy="1829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Çağla Akın  ·  Imperial College London  ·  Data Science Programme  ·  2026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0" y="4663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Dataset  ·  ~170,000 tracks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makes a song popular and can we predict it?"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22402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labels and streaming platforms invest millions in artist development and catalogue curation. A data-driven approach to predicting track popularity could transform how the industry identifies and promotes the next hit song.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2286000" cy="1554480"/>
          </a:xfrm>
          <a:prstGeom prst="rect">
            <a:avLst/>
          </a:prstGeom>
          <a:solidFill>
            <a:srgbClr val="0D0D0D"/>
          </a:solidFill>
          <a:ln w="12700">
            <a:solidFill>
              <a:srgbClr val="1DB95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228600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2278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~170K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tracks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3063240"/>
            <a:ext cx="2286000" cy="1554480"/>
          </a:xfrm>
          <a:prstGeom prst="rect">
            <a:avLst/>
          </a:prstGeom>
          <a:solidFill>
            <a:srgbClr val="0D0D0D"/>
          </a:solidFill>
          <a:ln w="12700">
            <a:solidFill>
              <a:srgbClr val="1DB95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3280" y="3063240"/>
            <a:ext cx="228600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32278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8328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features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3063240"/>
            <a:ext cx="2286000" cy="1554480"/>
          </a:xfrm>
          <a:prstGeom prst="rect">
            <a:avLst/>
          </a:prstGeom>
          <a:solidFill>
            <a:srgbClr val="0D0D0D"/>
          </a:solidFill>
          <a:ln w="12700">
            <a:solidFill>
              <a:srgbClr val="1DB95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3063240"/>
            <a:ext cx="228600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32278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0–100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score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Spotify Tracks Dataset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version of Spotify's internal analytics data. Each row is one track with metadata and 13 pre-computed audio features generated by the Spotify API.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popularity score (0–100), reflecting recent play counts and listener engagement.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Features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1920240" cy="347472"/>
          </a:xfrm>
          <a:prstGeom prst="rect">
            <a:avLst/>
          </a:prstGeom>
          <a:solidFill>
            <a:srgbClr val="222222"/>
          </a:solidFill>
          <a:ln w="63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danceability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03720" y="1371600"/>
            <a:ext cx="1920240" cy="347472"/>
          </a:xfrm>
          <a:prstGeom prst="rect">
            <a:avLst/>
          </a:prstGeom>
          <a:solidFill>
            <a:srgbClr val="222222"/>
          </a:solidFill>
          <a:ln w="63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03720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847088"/>
            <a:ext cx="1920240" cy="347472"/>
          </a:xfrm>
          <a:prstGeom prst="rect">
            <a:avLst/>
          </a:prstGeom>
          <a:solidFill>
            <a:srgbClr val="222222"/>
          </a:solidFill>
          <a:ln w="63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8470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loudness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03720" y="1847088"/>
            <a:ext cx="1920240" cy="347472"/>
          </a:xfrm>
          <a:prstGeom prst="rect">
            <a:avLst/>
          </a:prstGeom>
          <a:solidFill>
            <a:srgbClr val="222222"/>
          </a:solidFill>
          <a:ln w="63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03720" y="18470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322576"/>
            <a:ext cx="1920240" cy="347472"/>
          </a:xfrm>
          <a:prstGeom prst="rect">
            <a:avLst/>
          </a:prstGeom>
          <a:solidFill>
            <a:srgbClr val="222222"/>
          </a:solidFill>
          <a:ln w="63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23225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acousticness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03720" y="2322576"/>
            <a:ext cx="1920240" cy="347472"/>
          </a:xfrm>
          <a:prstGeom prst="rect">
            <a:avLst/>
          </a:prstGeom>
          <a:solidFill>
            <a:srgbClr val="222222"/>
          </a:solidFill>
          <a:ln w="63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3720" y="23225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798064"/>
            <a:ext cx="1920240" cy="347472"/>
          </a:xfrm>
          <a:prstGeom prst="rect">
            <a:avLst/>
          </a:prstGeom>
          <a:solidFill>
            <a:srgbClr val="222222"/>
          </a:solidFill>
          <a:ln w="63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27980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speechiness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03720" y="2798064"/>
            <a:ext cx="1920240" cy="347472"/>
          </a:xfrm>
          <a:prstGeom prst="rect">
            <a:avLst/>
          </a:prstGeom>
          <a:solidFill>
            <a:srgbClr val="222222"/>
          </a:solidFill>
          <a:ln w="63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03720" y="27980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3273552"/>
            <a:ext cx="1920240" cy="347472"/>
          </a:xfrm>
          <a:prstGeom prst="rect">
            <a:avLst/>
          </a:prstGeom>
          <a:solidFill>
            <a:srgbClr val="222222"/>
          </a:solidFill>
          <a:ln w="63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32735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instrumentalness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03720" y="3273552"/>
            <a:ext cx="1920240" cy="347472"/>
          </a:xfrm>
          <a:prstGeom prst="rect">
            <a:avLst/>
          </a:prstGeom>
          <a:solidFill>
            <a:srgbClr val="222222"/>
          </a:solidFill>
          <a:ln w="63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03720" y="32735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3749040"/>
            <a:ext cx="1920240" cy="347472"/>
          </a:xfrm>
          <a:prstGeom prst="rect">
            <a:avLst/>
          </a:prstGeom>
          <a:solidFill>
            <a:srgbClr val="222222"/>
          </a:solidFill>
          <a:ln w="63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3749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03720" y="3749040"/>
            <a:ext cx="1920240" cy="347472"/>
          </a:xfrm>
          <a:prstGeom prst="rect">
            <a:avLst/>
          </a:prstGeom>
          <a:solidFill>
            <a:srgbClr val="222222"/>
          </a:solidFill>
          <a:ln w="63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03720" y="3749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duration_ms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4224528"/>
            <a:ext cx="1920240" cy="347472"/>
          </a:xfrm>
          <a:prstGeom prst="rect">
            <a:avLst/>
          </a:prstGeom>
          <a:solidFill>
            <a:srgbClr val="222222"/>
          </a:solidFill>
          <a:ln w="63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572000"/>
            <a:ext cx="8229600" cy="2743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Spotify API via course case study (Count.co / GitHub)  ·  169,909 rows after cleaning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Finding: Audio Features Alone Don't Explain Popularity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023360" cy="3063240"/>
          </a:xfrm>
          <a:prstGeom prst="rect">
            <a:avLst/>
          </a:prstGeom>
          <a:solidFill>
            <a:srgbClr val="0D0D0D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023360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8013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Feature Correlations with Popularity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2359152"/>
            <a:ext cx="1234440" cy="16459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22860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6334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loudness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2706624"/>
            <a:ext cx="781812" cy="16459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30652" y="26334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9809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03120" y="3054096"/>
            <a:ext cx="534924" cy="16459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83764" y="29809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328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danceability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03120" y="3401568"/>
            <a:ext cx="452628" cy="16459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01468" y="332841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6758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acousticness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09344" y="3749040"/>
            <a:ext cx="493776" cy="16459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737360" y="36758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023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instrumentalness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362456" y="4096512"/>
            <a:ext cx="740664" cy="16459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737360" y="40233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691640"/>
            <a:ext cx="3977640" cy="3063240"/>
          </a:xfrm>
          <a:prstGeom prst="rect">
            <a:avLst/>
          </a:prstGeom>
          <a:solidFill>
            <a:srgbClr val="0D0D0D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54880" y="1691640"/>
            <a:ext cx="397764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18013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Driver: Artist Identity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233172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</a:t>
            </a:r>
            <a:endParaRPr lang="en-US" sz="7200" dirty="0"/>
          </a:p>
        </p:txBody>
      </p:sp>
      <p:sp>
        <p:nvSpPr>
          <p:cNvPr id="30" name="Text 28"/>
          <p:cNvSpPr/>
          <p:nvPr/>
        </p:nvSpPr>
        <p:spPr>
          <a:xfrm>
            <a:off x="4892040" y="32461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35661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Avg Popularity  ↔  Track Popularity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97764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track's popularity is almost entirely predicted by how popular the artist already is, not how the song sounds.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Models — Increasing Complexity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train–test split  ·  Evaluation: R² and RMSE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920240"/>
            <a:ext cx="2057400" cy="2651760"/>
          </a:xfrm>
          <a:prstGeom prst="rect">
            <a:avLst/>
          </a:prstGeom>
          <a:solidFill>
            <a:srgbClr val="222222"/>
          </a:solidFill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920240"/>
            <a:ext cx="20574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20848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" y="26334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8600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383280"/>
            <a:ext cx="1691640" cy="1829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" y="352044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features only.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the performance floor.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41448" y="1920240"/>
            <a:ext cx="2057400" cy="2651760"/>
          </a:xfrm>
          <a:prstGeom prst="rect">
            <a:avLst/>
          </a:prstGeom>
          <a:solidFill>
            <a:srgbClr val="222222"/>
          </a:solidFill>
          <a:ln w="1905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41448" y="1920240"/>
            <a:ext cx="2057400" cy="73152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41448" y="20848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B68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441448" y="26334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441448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Artist &amp; Year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24328" y="3383280"/>
            <a:ext cx="1691640" cy="1829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51176" y="352044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artist avg popularity and release year as features.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54296" y="1920240"/>
            <a:ext cx="2057400" cy="2651760"/>
          </a:xfrm>
          <a:prstGeom prst="rect">
            <a:avLst/>
          </a:prstGeom>
          <a:solidFill>
            <a:srgbClr val="222222"/>
          </a:solidFill>
          <a:ln w="190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54296" y="1920240"/>
            <a:ext cx="2057400" cy="7315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54296" y="20848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654296" y="26334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54296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37176" y="3383280"/>
            <a:ext cx="1691640" cy="1829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64024" y="352044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trees, max depth 15. Captures non-linear relationships.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67144" y="1920240"/>
            <a:ext cx="2057400" cy="2651760"/>
          </a:xfrm>
          <a:prstGeom prst="rect">
            <a:avLst/>
          </a:prstGeom>
          <a:solidFill>
            <a:srgbClr val="222222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67144" y="1920240"/>
            <a:ext cx="20574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67144" y="20848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67144" y="26334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67144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50024" y="3383280"/>
            <a:ext cx="1691640" cy="1829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76872" y="352044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trees. Cross-validated for comparison.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 Comparison (Test R²)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50876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98932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Results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89320" y="1938528"/>
            <a:ext cx="2834640" cy="3474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89320" y="19385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43800" y="1938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92440" y="193852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89320" y="2331720"/>
            <a:ext cx="2834640" cy="47548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80760" y="233172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— Baseline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498080" y="233172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138160" y="233172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15.77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89320" y="2880360"/>
            <a:ext cx="2834640" cy="47548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80760" y="288036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— Artist + Year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498080" y="288036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38160" y="288036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8.09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89320" y="3429000"/>
            <a:ext cx="2834640" cy="47548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080760" y="342900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498080" y="342900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138160" y="342900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7.59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89320" y="3977640"/>
            <a:ext cx="2834640" cy="47548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0760" y="397764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498080" y="397764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38160" y="397764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7.71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989320" y="4572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overfitting: train/test gap &lt; 0.03 across all models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Drives Popularity?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50876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508760"/>
            <a:ext cx="3291840" cy="1600200"/>
          </a:xfrm>
          <a:prstGeom prst="rect">
            <a:avLst/>
          </a:prstGeom>
          <a:solidFill>
            <a:srgbClr val="222222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577840" y="1508760"/>
            <a:ext cx="3291840" cy="7315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69280" y="16184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669280" y="22860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predictive power comes from just 2 features: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of release + artist popularity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246120"/>
            <a:ext cx="3291840" cy="1600200"/>
          </a:xfrm>
          <a:prstGeom prst="rect">
            <a:avLst/>
          </a:prstGeom>
          <a:solidFill>
            <a:srgbClr val="222222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77840" y="3246120"/>
            <a:ext cx="329184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669280" y="33558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~3%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5669280" y="40233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all 13 audio features combined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69280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danceability, energy, tempo, valence…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4663440"/>
            <a:ext cx="8412480" cy="91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47183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matters less than brand. A great song from an unknown artist will almost always underperform a mediocre one from a superstar.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TOOL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Spotify Hit Predictor App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023360" cy="1325880"/>
          </a:xfrm>
          <a:prstGeom prst="rect">
            <a:avLst/>
          </a:prstGeom>
          <a:solidFill>
            <a:srgbClr val="0D0D0D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64008" cy="7772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8562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Lookup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artist name — the model automatically retrieves their historical popularity to inform the prediction.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4023360" cy="1325880"/>
          </a:xfrm>
          <a:prstGeom prst="rect">
            <a:avLst/>
          </a:prstGeom>
          <a:solidFill>
            <a:srgbClr val="0D0D0D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64008" cy="7772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8562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Sliders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2402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danceability, energy, valence, tempo and more in real time to see how audio features influence the score.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4023360" cy="1325880"/>
          </a:xfrm>
          <a:prstGeom prst="rect">
            <a:avLst/>
          </a:prstGeom>
          <a:solidFill>
            <a:srgbClr val="0D0D0D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64008" cy="7772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3649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Prediction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returns a predicted popularity score (0–100) the moment you adjust any input.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200400"/>
            <a:ext cx="4023360" cy="1325880"/>
          </a:xfrm>
          <a:prstGeom prst="rect">
            <a:avLst/>
          </a:prstGeom>
          <a:solidFill>
            <a:srgbClr val="0D0D0D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3383280"/>
            <a:ext cx="64008" cy="7772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33649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74904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chart shows which inputs drove the prediction, making the model transparent and explainable.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617720"/>
            <a:ext cx="8412480" cy="2743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Python  ·  Streamlit  ·  scikit-learn (Random Forest)  ·  Plotly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822960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31152" y="822960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78624" y="822960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26096" y="822960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73568" y="822960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321040" y="822960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83680" y="1170432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31152" y="1170432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278624" y="1170432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6096" y="1170432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73568" y="1170432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21040" y="1170432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83680" y="1517904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31152" y="1517904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78624" y="1517904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26096" y="1517904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73568" y="1517904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21040" y="1517904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83680" y="1865376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31152" y="1865376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278624" y="1865376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626096" y="1865376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73568" y="1865376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21040" y="1865376"/>
            <a:ext cx="64008" cy="64008"/>
          </a:xfrm>
          <a:prstGeom prst="ellipse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1005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Found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457200" y="1865376"/>
            <a:ext cx="347472" cy="34747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1865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182880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features explain only ~47% of popularity — sound alone is not enough.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57200" y="2523744"/>
            <a:ext cx="347472" cy="34747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5840" y="248716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identity + release year explain ~88% — brand is the dominant force.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457200" y="3182112"/>
            <a:ext cx="347472" cy="34747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05840" y="314553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the best model (R² = 0.88, RMSE = 7.6) with no overfitting.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457200" y="3840480"/>
            <a:ext cx="347472" cy="34747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05840" y="380390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hit predictor app makes these insights accessible and interactive.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457200" y="4572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331720" y="45720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genre data  ·  Add collaborative filtering  ·  Deploy app publicly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620</Words>
  <Application>Microsoft Macintosh PowerPoint</Application>
  <PresentationFormat>On-screen Show (16:9)</PresentationFormat>
  <Paragraphs>134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Makes a Song Popular?</dc:title>
  <dc:subject>PptxGenJS Presentation</dc:subject>
  <dc:creator>Cagla Akin</dc:creator>
  <cp:lastModifiedBy>Cagla Akin</cp:lastModifiedBy>
  <cp:revision>2</cp:revision>
  <dcterms:created xsi:type="dcterms:W3CDTF">2026-04-24T12:08:00Z</dcterms:created>
  <dcterms:modified xsi:type="dcterms:W3CDTF">2026-04-24T12:35:51Z</dcterms:modified>
</cp:coreProperties>
</file>